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929855"/>
            <a:ext cx="778073" cy="400050"/>
          </a:xfrm>
          <a:prstGeom prst="roundRect">
            <a:avLst>
              <a:gd name="adj" fmla="val 23810"/>
            </a:avLst>
          </a:prstGeom>
          <a:solidFill>
            <a:srgbClr val="3556FF"/>
          </a:solidFill>
          <a:ln/>
        </p:spPr>
      </p:sp>
      <p:sp>
        <p:nvSpPr>
          <p:cNvPr id="4" name="Text 2"/>
          <p:cNvSpPr/>
          <p:nvPr/>
        </p:nvSpPr>
        <p:spPr>
          <a:xfrm>
            <a:off x="1657350" y="2987005"/>
            <a:ext cx="5875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435423" y="2970337"/>
            <a:ext cx="378855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3711937"/>
            <a:ext cx="8040753" cy="209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8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발굴, 이제 </a:t>
            </a:r>
            <a:pPr algn="l" indent="0" marL="0">
              <a:lnSpc>
                <a:spcPct val="104000"/>
              </a:lnSpc>
              <a:buNone/>
            </a:pPr>
            <a:r>
              <a:rPr lang="en-US" sz="7800" b="1" spc="-351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ct val="104000"/>
              </a:lnSpc>
              <a:buNone/>
            </a:pPr>
            <a:r>
              <a:rPr lang="en-US" sz="78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대신합니다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524000" y="6157595"/>
            <a:ext cx="772240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일일이 하던 타깃 스캔을, 에스원 BTS가 대신합니다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24000" y="7120207"/>
            <a:ext cx="258908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에스원 시큐리티사업부 · B팀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5076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9839" y="1238250"/>
            <a:ext cx="866824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블루스캔은 시큐리티사업부 NEXT 20년을 책임질 사업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206878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952235" y="2516898"/>
            <a:ext cx="1038353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기회는 거대하지만,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다 잡지 못했습니다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667000" y="3746731"/>
            <a:ext cx="4152900" cy="265926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67000" y="6396468"/>
            <a:ext cx="41529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" name="Shape 5"/>
          <p:cNvSpPr/>
          <p:nvPr/>
        </p:nvSpPr>
        <p:spPr>
          <a:xfrm>
            <a:off x="2667000" y="3746731"/>
            <a:ext cx="4152900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8" name="Shape 6"/>
          <p:cNvSpPr/>
          <p:nvPr/>
        </p:nvSpPr>
        <p:spPr>
          <a:xfrm>
            <a:off x="2667000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6810375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" name="Text 8"/>
          <p:cNvSpPr/>
          <p:nvPr/>
        </p:nvSpPr>
        <p:spPr>
          <a:xfrm>
            <a:off x="3000375" y="4165831"/>
            <a:ext cx="38347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개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3000375" y="5042132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 시장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00375" y="5375507"/>
            <a:ext cx="359073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3천평 미만 법인 중소빌딩·프랜차이즈 (기획서 기준)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67550" y="3746731"/>
            <a:ext cx="4152900" cy="265926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7550" y="6396468"/>
            <a:ext cx="41529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7550" y="3746731"/>
            <a:ext cx="4152900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067550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0925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8" name="Text 16"/>
          <p:cNvSpPr/>
          <p:nvPr/>
        </p:nvSpPr>
        <p:spPr>
          <a:xfrm>
            <a:off x="7400925" y="4165831"/>
            <a:ext cx="38347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550" dirty="0"/>
          </a:p>
        </p:txBody>
      </p:sp>
      <p:sp>
        <p:nvSpPr>
          <p:cNvPr id="19" name="Text 17"/>
          <p:cNvSpPr/>
          <p:nvPr/>
        </p:nvSpPr>
        <p:spPr>
          <a:xfrm>
            <a:off x="7400925" y="5042132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시장 침투율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00925" y="5375507"/>
            <a:ext cx="359073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 약 2천 건 — 성장 여백이 큽니다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68100" y="3746731"/>
            <a:ext cx="4152900" cy="265926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468100" y="6396468"/>
            <a:ext cx="41529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68100" y="3746731"/>
            <a:ext cx="4152900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68100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5611475" y="3746731"/>
            <a:ext cx="9525" cy="2659261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Text 24"/>
          <p:cNvSpPr/>
          <p:nvPr/>
        </p:nvSpPr>
        <p:spPr>
          <a:xfrm>
            <a:off x="11801475" y="4165831"/>
            <a:ext cx="38347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spc="-22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%↑</a:t>
            </a:r>
            <a:endParaRPr lang="en-US" sz="5550" dirty="0"/>
          </a:p>
        </p:txBody>
      </p:sp>
      <p:sp>
        <p:nvSpPr>
          <p:cNvPr id="27" name="Text 25"/>
          <p:cNvSpPr/>
          <p:nvPr/>
        </p:nvSpPr>
        <p:spPr>
          <a:xfrm>
            <a:off x="11801475" y="5042132"/>
            <a:ext cx="3834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성장세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01475" y="5375507"/>
            <a:ext cx="38347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고성장세가 지속되고 있습니다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88363" y="1428750"/>
            <a:ext cx="5311274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 영업이 풀어야 할 두 방향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2259285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817451" y="2707398"/>
            <a:ext cx="865302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신규는 넓히고, 해약은 줄여야 합니다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2476500" y="4013433"/>
            <a:ext cx="6524625" cy="1955453"/>
          </a:xfrm>
          <a:prstGeom prst="roundRect">
            <a:avLst>
              <a:gd name="adj" fmla="val 97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6075" y="4403958"/>
            <a:ext cx="6276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확대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86075" y="4832583"/>
            <a:ext cx="5876639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700명이 월 90건 </a:t>
            </a:r>
            <a:pPr algn="l" indent="0" marL="0">
              <a:lnSpc>
                <a:spcPct val="145000"/>
              </a:lnSpc>
              <a:buNone/>
            </a:pPr>
            <a:r>
              <a:rPr lang="en-US" sz="20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성공률 약 10%. 나머지 90%의 기회를 끌어올려야 합니다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86875" y="4013433"/>
            <a:ext cx="6524625" cy="1955453"/>
          </a:xfrm>
          <a:prstGeom prst="roundRect">
            <a:avLst>
              <a:gd name="adj" fmla="val 97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6450" y="4403958"/>
            <a:ext cx="6276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해약 관리 (리텐션)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6450" y="4832583"/>
            <a:ext cx="5876639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블루스캔은 </a:t>
            </a:r>
            <a:pPr algn="l" indent="0" marL="0">
              <a:lnSpc>
                <a:spcPct val="145000"/>
              </a:lnSpc>
              <a:buNone/>
            </a:pPr>
            <a:r>
              <a:rPr lang="en-US" sz="2025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 하나뿐 </a:t>
            </a:r>
            <a:pPr algn="l" indent="0" marL="0">
              <a:lnSpc>
                <a:spcPct val="145000"/>
              </a:lnSpc>
              <a:buNone/>
            </a:pPr>
            <a:r>
              <a:rPr lang="en-US" sz="20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접점이 적어 유지 관리가 취약합니다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525116" y="1333500"/>
            <a:ext cx="523776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 부족했고, 무엇을 개선했나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2164035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157888" y="2612153"/>
            <a:ext cx="79721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감과 수작업을, 데이터와 자동화로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2476500" y="3880099"/>
            <a:ext cx="6096744" cy="2353494"/>
          </a:xfrm>
          <a:prstGeom prst="roundRect">
            <a:avLst>
              <a:gd name="adj" fmla="val 809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6075" y="4270624"/>
            <a:ext cx="5805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32723" y="4656386"/>
            <a:ext cx="5507147" cy="1224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흩어진 정보를 사람이 일일이 취합</a:t>
            </a:r>
            <a:endParaRPr lang="en-US" sz="17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어디부터 갈지 감으로 결정</a:t>
            </a:r>
            <a:endParaRPr lang="en-US" sz="17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뒤 기록은 개인 메모로 흩어짐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820894" y="4728196"/>
            <a:ext cx="64621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9714756" y="3880099"/>
            <a:ext cx="6096744" cy="2353494"/>
          </a:xfrm>
          <a:prstGeom prst="roundRect">
            <a:avLst>
              <a:gd name="adj" fmla="val 8094"/>
            </a:avLst>
          </a:prstGeom>
          <a:gradFill rotWithShape="1">
            <a:gsLst>
              <a:gs pos="0">
                <a:srgbClr val="3556FF">
                  <a:alpha val="22000"/>
                </a:srgbClr>
              </a:gs>
              <a:gs pos="100000">
                <a:srgbClr val="3556FF">
                  <a:alpha val="6000"/>
                </a:srgbClr>
              </a:gs>
            </a:gsLst>
            <a:lin ang="4200000" scaled="0"/>
          </a:gradFill>
          <a:ln w="9525">
            <a:solidFill>
              <a:srgbClr val="7A96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4331" y="4270624"/>
            <a:ext cx="5805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· BTS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70978" y="4656386"/>
            <a:ext cx="5507147" cy="1224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흩어진 데이터를 한 곳에 통합</a:t>
            </a:r>
            <a:endParaRPr lang="en-US" sz="17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점수·근거로 우선순위 자동 제시</a:t>
            </a:r>
            <a:endParaRPr lang="en-US" sz="17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2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기록이 조직 자산으로 축적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1981" y="1143000"/>
            <a:ext cx="6883963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확대 — 현장의 대화가 곧 데이터입니다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197353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11662" y="2421664"/>
            <a:ext cx="1146467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대화를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붙여넣으면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AI가 정리합니다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476500" y="3689635"/>
            <a:ext cx="6074718" cy="1309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28925" y="3965860"/>
            <a:ext cx="5906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12" kern="0" dirty="0">
                <a:solidFill>
                  <a:srgbClr val="38416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컨설턴트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28925" y="4356385"/>
            <a:ext cx="553096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사장님, 요즘 야간에 사무실 비는 시간 많으시죠?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675885" y="5189823"/>
            <a:ext cx="8135615" cy="1290638"/>
          </a:xfrm>
          <a:prstGeom prst="roundRect">
            <a:avLst>
              <a:gd name="adj" fmla="val 16236"/>
            </a:avLst>
          </a:prstGeom>
          <a:solidFill>
            <a:srgbClr val="3556FF"/>
          </a:solidFill>
          <a:ln/>
        </p:spPr>
      </p:sp>
      <p:sp>
        <p:nvSpPr>
          <p:cNvPr id="9" name="Text 7"/>
          <p:cNvSpPr/>
          <p:nvPr/>
        </p:nvSpPr>
        <p:spPr>
          <a:xfrm>
            <a:off x="8018785" y="5456523"/>
            <a:ext cx="81947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12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18785" y="5847048"/>
            <a:ext cx="76733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맞아요. 밤엔 아무도 없어서 늘 불안하긴 해요. 전기실도 오래됐고…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2476500" y="6670960"/>
            <a:ext cx="7394897" cy="1309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8925" y="6947185"/>
            <a:ext cx="73590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12" kern="0" dirty="0">
                <a:solidFill>
                  <a:srgbClr val="38416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컨설턴트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28925" y="7337710"/>
            <a:ext cx="689074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그럼 원격 관제로 야간·전기 위험을 같이 보시는 게 좋겠네요.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348743" y="8312353"/>
            <a:ext cx="959051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</a:t>
            </a:r>
            <a:pPr algn="ctr" indent="0" marL="0">
              <a:buNone/>
            </a:pPr>
            <a:r>
              <a:rPr lang="en-US" sz="21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공백 · 노후 전기 </a:t>
            </a:r>
            <a:pPr algn="ctr" indent="0" marL="0">
              <a:buNone/>
            </a:pPr>
            <a:r>
              <a:rPr lang="en-US" sz="21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리스크를 뽑아, 추천 상품·다음 액션까지 정리 </a:t>
            </a:r>
            <a:pPr algn="ctr" indent="0" marL="0">
              <a:buNone/>
            </a:pPr>
            <a:r>
              <a:rPr lang="en-US" sz="21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(예시 대화)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F80D8">
                  <a:alpha val="100000"/>
                </a:srgbClr>
              </a:gs>
              <a:gs pos="100000">
                <a:srgbClr val="2467B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5741763" y="3577828"/>
            <a:ext cx="6804400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타깃, 정보는 많지만 흩어져 있습니다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4408363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157471" y="4856463"/>
            <a:ext cx="5972984" cy="189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한곳에 모아 어디부터 공략할지 보여줍니다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0682" y="1143000"/>
            <a:ext cx="6186636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해약 관리 — 알람 서비스와 비교해 보면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447109" y="2412125"/>
            <a:ext cx="1139370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터칭포인트가 적은 블루스캔을,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BTS가 메웁니다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524000" y="3756263"/>
            <a:ext cx="4572000" cy="923925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4670663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" name="Text 4"/>
          <p:cNvSpPr/>
          <p:nvPr/>
        </p:nvSpPr>
        <p:spPr>
          <a:xfrm>
            <a:off x="1626870" y="4042013"/>
            <a:ext cx="4366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접점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6000" y="3756263"/>
            <a:ext cx="3555950" cy="923925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4670663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Text 7"/>
          <p:cNvSpPr/>
          <p:nvPr/>
        </p:nvSpPr>
        <p:spPr>
          <a:xfrm>
            <a:off x="6214111" y="4042013"/>
            <a:ext cx="3319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 (출동경비)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651950" y="3756263"/>
            <a:ext cx="3555950" cy="923925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1" name="Shape 9"/>
          <p:cNvSpPr/>
          <p:nvPr/>
        </p:nvSpPr>
        <p:spPr>
          <a:xfrm>
            <a:off x="9651950" y="4670663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" name="Text 10"/>
          <p:cNvSpPr/>
          <p:nvPr/>
        </p:nvSpPr>
        <p:spPr>
          <a:xfrm>
            <a:off x="9770061" y="4042013"/>
            <a:ext cx="3319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 (기존)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207901" y="3756263"/>
            <a:ext cx="3556099" cy="923925"/>
          </a:xfrm>
          <a:prstGeom prst="rect">
            <a:avLst/>
          </a:prstGeom>
          <a:solidFill>
            <a:srgbClr val="3556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207901" y="4670663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26009" y="4042013"/>
            <a:ext cx="33198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 + BTS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24000" y="5632689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" name="Text 15"/>
          <p:cNvSpPr/>
          <p:nvPr/>
        </p:nvSpPr>
        <p:spPr>
          <a:xfrm>
            <a:off x="1695450" y="4965938"/>
            <a:ext cx="4366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출동 · 순찰 · 기기교체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6096000" y="563268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4111" y="4965938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651950" y="563268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1" name="Text 19"/>
          <p:cNvSpPr/>
          <p:nvPr/>
        </p:nvSpPr>
        <p:spPr>
          <a:xfrm>
            <a:off x="9770061" y="4965938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207901" y="4680188"/>
            <a:ext cx="3556099" cy="962025"/>
          </a:xfrm>
          <a:prstGeom prst="rect">
            <a:avLst/>
          </a:prstGeom>
          <a:solidFill>
            <a:srgbClr val="3556F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207901" y="5632689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Text 22"/>
          <p:cNvSpPr/>
          <p:nvPr/>
        </p:nvSpPr>
        <p:spPr>
          <a:xfrm>
            <a:off x="13326009" y="4965938"/>
            <a:ext cx="33198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24000" y="6585189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Text 24"/>
          <p:cNvSpPr/>
          <p:nvPr/>
        </p:nvSpPr>
        <p:spPr>
          <a:xfrm>
            <a:off x="1695450" y="5927964"/>
            <a:ext cx="43662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096000" y="658518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Text 26"/>
          <p:cNvSpPr/>
          <p:nvPr/>
        </p:nvSpPr>
        <p:spPr>
          <a:xfrm>
            <a:off x="6214111" y="5927964"/>
            <a:ext cx="33197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651950" y="658518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0" name="Text 28"/>
          <p:cNvSpPr/>
          <p:nvPr/>
        </p:nvSpPr>
        <p:spPr>
          <a:xfrm>
            <a:off x="9770061" y="5927964"/>
            <a:ext cx="33197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3207901" y="5642214"/>
            <a:ext cx="3556099" cy="952500"/>
          </a:xfrm>
          <a:prstGeom prst="rect">
            <a:avLst/>
          </a:prstGeom>
          <a:solidFill>
            <a:srgbClr val="3556FF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207901" y="6585189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3" name="Text 31"/>
          <p:cNvSpPr/>
          <p:nvPr/>
        </p:nvSpPr>
        <p:spPr>
          <a:xfrm>
            <a:off x="13326009" y="5927964"/>
            <a:ext cx="33198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24000" y="7547214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5" name="Text 33"/>
          <p:cNvSpPr/>
          <p:nvPr/>
        </p:nvSpPr>
        <p:spPr>
          <a:xfrm>
            <a:off x="1695450" y="6880464"/>
            <a:ext cx="4366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리포트 · 감성터칭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6096000" y="7547214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7" name="Text 35"/>
          <p:cNvSpPr/>
          <p:nvPr/>
        </p:nvSpPr>
        <p:spPr>
          <a:xfrm>
            <a:off x="6214111" y="6880464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9651950" y="7547214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9" name="Text 37"/>
          <p:cNvSpPr/>
          <p:nvPr/>
        </p:nvSpPr>
        <p:spPr>
          <a:xfrm>
            <a:off x="9770061" y="6880464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13207901" y="6594714"/>
            <a:ext cx="3556099" cy="962025"/>
          </a:xfrm>
          <a:prstGeom prst="rect">
            <a:avLst/>
          </a:prstGeom>
          <a:solidFill>
            <a:srgbClr val="3556FF">
              <a:alpha val="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207901" y="7547214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2" name="Text 40"/>
          <p:cNvSpPr/>
          <p:nvPr/>
        </p:nvSpPr>
        <p:spPr>
          <a:xfrm>
            <a:off x="13326009" y="6880464"/>
            <a:ext cx="33198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43" name="Shape 41"/>
          <p:cNvSpPr/>
          <p:nvPr/>
        </p:nvSpPr>
        <p:spPr>
          <a:xfrm>
            <a:off x="1524000" y="8509239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4" name="Text 42"/>
          <p:cNvSpPr/>
          <p:nvPr/>
        </p:nvSpPr>
        <p:spPr>
          <a:xfrm>
            <a:off x="1695450" y="7842489"/>
            <a:ext cx="4366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포인트 제시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6096000" y="850923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6" name="Text 44"/>
          <p:cNvSpPr/>
          <p:nvPr/>
        </p:nvSpPr>
        <p:spPr>
          <a:xfrm>
            <a:off x="6214111" y="7842489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47" name="Shape 45"/>
          <p:cNvSpPr/>
          <p:nvPr/>
        </p:nvSpPr>
        <p:spPr>
          <a:xfrm>
            <a:off x="9651950" y="8509239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8" name="Text 46"/>
          <p:cNvSpPr/>
          <p:nvPr/>
        </p:nvSpPr>
        <p:spPr>
          <a:xfrm>
            <a:off x="9770061" y="7842489"/>
            <a:ext cx="33197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550" dirty="0"/>
          </a:p>
        </p:txBody>
      </p:sp>
      <p:sp>
        <p:nvSpPr>
          <p:cNvPr id="49" name="Shape 47"/>
          <p:cNvSpPr/>
          <p:nvPr/>
        </p:nvSpPr>
        <p:spPr>
          <a:xfrm>
            <a:off x="13207901" y="7556739"/>
            <a:ext cx="3556099" cy="962025"/>
          </a:xfrm>
          <a:prstGeom prst="rect">
            <a:avLst/>
          </a:prstGeom>
          <a:solidFill>
            <a:srgbClr val="3556FF">
              <a:alpha val="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207901" y="8509239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1" name="Text 49"/>
          <p:cNvSpPr/>
          <p:nvPr/>
        </p:nvSpPr>
        <p:spPr>
          <a:xfrm>
            <a:off x="13326009" y="7842489"/>
            <a:ext cx="33198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550" dirty="0"/>
          </a:p>
        </p:txBody>
      </p:sp>
      <p:sp>
        <p:nvSpPr>
          <p:cNvPr id="52" name="Shape 50"/>
          <p:cNvSpPr/>
          <p:nvPr/>
        </p:nvSpPr>
        <p:spPr>
          <a:xfrm>
            <a:off x="1524000" y="8518764"/>
            <a:ext cx="4572000" cy="928688"/>
          </a:xfrm>
          <a:prstGeom prst="rect">
            <a:avLst/>
          </a:prstGeom>
          <a:solidFill>
            <a:srgbClr val="ECE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524000" y="9437926"/>
            <a:ext cx="45720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4" name="Text 52"/>
          <p:cNvSpPr/>
          <p:nvPr/>
        </p:nvSpPr>
        <p:spPr>
          <a:xfrm>
            <a:off x="1695450" y="8804514"/>
            <a:ext cx="436626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접점 수</a:t>
            </a:r>
            <a:endParaRPr lang="en-US" sz="2250" dirty="0"/>
          </a:p>
        </p:txBody>
      </p:sp>
      <p:sp>
        <p:nvSpPr>
          <p:cNvPr id="55" name="Shape 53"/>
          <p:cNvSpPr/>
          <p:nvPr/>
        </p:nvSpPr>
        <p:spPr>
          <a:xfrm>
            <a:off x="6096000" y="8518764"/>
            <a:ext cx="3555950" cy="928688"/>
          </a:xfrm>
          <a:prstGeom prst="rect">
            <a:avLst/>
          </a:prstGeom>
          <a:solidFill>
            <a:srgbClr val="ECE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6000" y="9437926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7" name="Text 55"/>
          <p:cNvSpPr/>
          <p:nvPr/>
        </p:nvSpPr>
        <p:spPr>
          <a:xfrm>
            <a:off x="6214111" y="8804514"/>
            <a:ext cx="331972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많음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9651950" y="8518764"/>
            <a:ext cx="3555950" cy="928688"/>
          </a:xfrm>
          <a:prstGeom prst="rect">
            <a:avLst/>
          </a:prstGeom>
          <a:solidFill>
            <a:srgbClr val="ECE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651950" y="9437926"/>
            <a:ext cx="355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0" name="Text 58"/>
          <p:cNvSpPr/>
          <p:nvPr/>
        </p:nvSpPr>
        <p:spPr>
          <a:xfrm>
            <a:off x="9770061" y="8804514"/>
            <a:ext cx="331972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적음 (관제뿐)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13207901" y="8518764"/>
            <a:ext cx="3556099" cy="928688"/>
          </a:xfrm>
          <a:prstGeom prst="rect">
            <a:avLst/>
          </a:prstGeom>
          <a:solidFill>
            <a:srgbClr val="ECE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3207901" y="9437926"/>
            <a:ext cx="3556099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3" name="Text 61"/>
          <p:cNvSpPr/>
          <p:nvPr/>
        </p:nvSpPr>
        <p:spPr>
          <a:xfrm>
            <a:off x="13326009" y="8804514"/>
            <a:ext cx="331988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인사이트로 보강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751720" y="3363292"/>
            <a:ext cx="2784559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고리를 구현합니다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1250" y="4113833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50320" y="4752446"/>
            <a:ext cx="2541315" cy="2171700"/>
          </a:xfrm>
          <a:prstGeom prst="roundRect">
            <a:avLst>
              <a:gd name="adj" fmla="val 11404"/>
            </a:avLst>
          </a:prstGeom>
          <a:solidFill>
            <a:srgbClr val="FFFFFF">
              <a:alpha val="6000"/>
            </a:srgbClr>
          </a:solidFill>
          <a:ln w="14288">
            <a:solidFill>
              <a:srgbClr val="7A96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88575" y="5300133"/>
            <a:ext cx="1464804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↑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288575" y="6028796"/>
            <a:ext cx="146480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발굴 확대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577385" y="5466821"/>
            <a:ext cx="4529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10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5100" dirty="0"/>
          </a:p>
        </p:txBody>
      </p:sp>
      <p:sp>
        <p:nvSpPr>
          <p:cNvPr id="9" name="Shape 7"/>
          <p:cNvSpPr/>
          <p:nvPr/>
        </p:nvSpPr>
        <p:spPr>
          <a:xfrm>
            <a:off x="7316093" y="4752446"/>
            <a:ext cx="2541315" cy="2171700"/>
          </a:xfrm>
          <a:prstGeom prst="roundRect">
            <a:avLst>
              <a:gd name="adj" fmla="val 11404"/>
            </a:avLst>
          </a:prstGeom>
          <a:solidFill>
            <a:srgbClr val="FFFFFF">
              <a:alpha val="6000"/>
            </a:srgbClr>
          </a:solidFill>
          <a:ln w="14288">
            <a:solidFill>
              <a:srgbClr val="7A96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4348" y="5300133"/>
            <a:ext cx="1464804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해약 ↓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854348" y="6028796"/>
            <a:ext cx="146480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리텐션 강화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143158" y="5466821"/>
            <a:ext cx="4529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10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5100" dirty="0"/>
          </a:p>
        </p:txBody>
      </p:sp>
      <p:sp>
        <p:nvSpPr>
          <p:cNvPr id="13" name="Shape 11"/>
          <p:cNvSpPr/>
          <p:nvPr/>
        </p:nvSpPr>
        <p:spPr>
          <a:xfrm>
            <a:off x="10881866" y="4752446"/>
            <a:ext cx="3655740" cy="2171700"/>
          </a:xfrm>
          <a:prstGeom prst="roundRect">
            <a:avLst>
              <a:gd name="adj" fmla="val 11404"/>
            </a:avLst>
          </a:prstGeom>
          <a:solidFill>
            <a:srgbClr val="3556FF">
              <a:alpha val="22000"/>
            </a:srgbClr>
          </a:solidFill>
          <a:ln w="14288">
            <a:solidFill>
              <a:srgbClr val="7A96FF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64400" y="5300133"/>
            <a:ext cx="269067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 확대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364400" y="6028796"/>
            <a:ext cx="269067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성장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5800" y="3772049"/>
            <a:ext cx="2276401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그렇게 탄생한,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4602584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12050" y="5050713"/>
            <a:ext cx="5663825" cy="96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에스원 BTS입니다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7057017" y="6189875"/>
            <a:ext cx="417389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 — 발굴부터 리텐션까지 한 흐름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685" y="914400"/>
            <a:ext cx="6094631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발굴을 위한 모든 정보를 한 화면에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174493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467519" y="2190758"/>
            <a:ext cx="935288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1등인지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근거까지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보여주는 우선순위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000250" y="3477781"/>
            <a:ext cx="14287500" cy="5669756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09775" y="3487306"/>
            <a:ext cx="14268450" cy="45243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2009775" y="3930218"/>
            <a:ext cx="142684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2181225" y="364684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2390775" y="364684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2600325" y="364684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Text 9"/>
          <p:cNvSpPr/>
          <p:nvPr/>
        </p:nvSpPr>
        <p:spPr>
          <a:xfrm>
            <a:off x="2855781" y="3611131"/>
            <a:ext cx="15046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· 신규 고객 후보</a:t>
            </a:r>
            <a:endParaRPr lang="en-US" sz="12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5" y="3939743"/>
            <a:ext cx="14268450" cy="70342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2715" y="1047750"/>
            <a:ext cx="4962570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고객 관리를 위한 새로운 툴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187828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64653" y="2324092"/>
            <a:ext cx="1175862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계약·VOC·신호를 모아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포인트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제시합니다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000250" y="3534877"/>
            <a:ext cx="14287500" cy="5612606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09775" y="3544402"/>
            <a:ext cx="14268450" cy="45243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2009775" y="3987315"/>
            <a:ext cx="142684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2181225" y="3703946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2390775" y="3703946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2600325" y="3703946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Text 9"/>
          <p:cNvSpPr/>
          <p:nvPr/>
        </p:nvSpPr>
        <p:spPr>
          <a:xfrm>
            <a:off x="2851026" y="3668227"/>
            <a:ext cx="160927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· 관리자 대시보드</a:t>
            </a:r>
            <a:endParaRPr lang="en-US" sz="12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5" y="3996840"/>
            <a:ext cx="14268450" cy="694446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7483658" y="9653588"/>
            <a:ext cx="27094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8313" y="1428750"/>
            <a:ext cx="4271300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쓰게 만드는 힘 — 재미있게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225928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767651" y="2707402"/>
            <a:ext cx="1075269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동기를 부여하고, 목표를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게임처럼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관리합니다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135710" y="4146796"/>
            <a:ext cx="3376464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61288" y="4365871"/>
            <a:ext cx="29253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포인트·레벨 </a:t>
            </a:r>
            <a:pPr algn="ctr" indent="0" marL="0">
              <a:buNone/>
            </a:pPr>
            <a:r>
              <a:rPr lang="en-US" sz="1800" b="1" spc="-12" kern="0" dirty="0">
                <a:solidFill>
                  <a:srgbClr val="38416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방문·계약마다 보상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64574" y="4146796"/>
            <a:ext cx="3167658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93284" y="4365871"/>
            <a:ext cx="2710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퀘스트 </a:t>
            </a:r>
            <a:pPr algn="ctr" indent="0" marL="0">
              <a:buNone/>
            </a:pPr>
            <a:r>
              <a:rPr lang="en-US" sz="1800" b="1" spc="-12" kern="0" dirty="0">
                <a:solidFill>
                  <a:srgbClr val="38416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오늘의 목표·미션 제시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84632" y="4146796"/>
            <a:ext cx="3167658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213342" y="4365871"/>
            <a:ext cx="2710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랭킹 </a:t>
            </a:r>
            <a:pPr algn="ctr" indent="0" marL="0">
              <a:buNone/>
            </a:pPr>
            <a:r>
              <a:rPr lang="en-US" sz="1800" b="1" spc="-12" kern="0" dirty="0">
                <a:solidFill>
                  <a:srgbClr val="38416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지사·동료와 선의의 경쟁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3865" y="1143000"/>
            <a:ext cx="4720196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700명이 써도, 부담 없는 운영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197353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330902" y="2421665"/>
            <a:ext cx="962612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60만 원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 운영비, 사내 시스템과 연동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476500" y="3613438"/>
            <a:ext cx="6534150" cy="2834580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67025" y="3965863"/>
            <a:ext cx="6328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AI 운영비 (700명 실시간)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67025" y="4432588"/>
            <a:ext cx="632841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20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0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원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2867025" y="5213638"/>
            <a:ext cx="592569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 API 0원 · 뉴스 수집 2~3만 원 · 인터뷰 분석 45~60만 원 — 순수 API 비용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77350" y="3613438"/>
            <a:ext cx="6534150" cy="2834580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67875" y="3965863"/>
            <a:ext cx="6328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구조 · 3-Tier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67875" y="4432588"/>
            <a:ext cx="1588443" cy="866775"/>
          </a:xfrm>
          <a:prstGeom prst="roundRect">
            <a:avLst>
              <a:gd name="adj" fmla="val 15385"/>
            </a:avLst>
          </a:prstGeom>
          <a:solidFill>
            <a:srgbClr val="F7F9FE"/>
          </a:solidFill>
          <a:ln w="14288">
            <a:solidFill>
              <a:srgbClr val="E6EA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9899" y="4618325"/>
            <a:ext cx="14643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9421" y="4904075"/>
            <a:ext cx="42535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웹·앱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89668" y="4735007"/>
            <a:ext cx="303312" cy="300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750129" y="4437350"/>
            <a:ext cx="1588517" cy="857250"/>
          </a:xfrm>
          <a:prstGeom prst="roundRect">
            <a:avLst>
              <a:gd name="adj" fmla="val 15556"/>
            </a:avLst>
          </a:prstGeom>
          <a:solidFill>
            <a:srgbClr val="131A33"/>
          </a:solidFill>
          <a:ln w="14288">
            <a:solidFill>
              <a:srgbClr val="13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12150" y="4623088"/>
            <a:ext cx="14644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중계 서버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73322" y="4908838"/>
            <a:ext cx="74213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471996" y="4735007"/>
            <a:ext cx="303312" cy="300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832458" y="4437350"/>
            <a:ext cx="1588517" cy="857250"/>
          </a:xfrm>
          <a:prstGeom prst="roundRect">
            <a:avLst>
              <a:gd name="adj" fmla="val 15556"/>
            </a:avLst>
          </a:prstGeom>
          <a:solidFill>
            <a:srgbClr val="F7F9FE"/>
          </a:solidFill>
          <a:ln w="14288">
            <a:solidFill>
              <a:srgbClr val="E6EA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4478" y="4623088"/>
            <a:ext cx="14644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사내·외부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601" y="4908838"/>
            <a:ext cx="125015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ERP·CRM·LLM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67875" y="5432713"/>
            <a:ext cx="592569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 인증 · ERP 지사정보 · CRM 가망·계약 연동 (연동 개발 필요)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962826" y="1143000"/>
            <a:ext cx="236234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모든 흐름을,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1973535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198891" y="2418144"/>
            <a:ext cx="13890218" cy="96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컨설턴트의 월요일 아침으로 보여드리겠습니다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2476500" y="3823953"/>
            <a:ext cx="13335000" cy="4371007"/>
          </a:xfrm>
          <a:prstGeom prst="roundRect">
            <a:avLst>
              <a:gd name="adj" fmla="val 3487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86025" y="3833478"/>
            <a:ext cx="13315950" cy="442913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8" name="Shape 6"/>
          <p:cNvSpPr/>
          <p:nvPr/>
        </p:nvSpPr>
        <p:spPr>
          <a:xfrm>
            <a:off x="2486025" y="4266865"/>
            <a:ext cx="13315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2657475" y="398825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2867025" y="398825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3076575" y="3988259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2" name="Text 10"/>
          <p:cNvSpPr/>
          <p:nvPr/>
        </p:nvSpPr>
        <p:spPr>
          <a:xfrm>
            <a:off x="3323574" y="3957303"/>
            <a:ext cx="16907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· bluescan-demo</a:t>
            </a:r>
            <a:endParaRPr lang="en-US" sz="127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025" y="4276390"/>
            <a:ext cx="13315950" cy="64077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886179" y="8469420"/>
            <a:ext cx="2515642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31A33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48129" y="8664682"/>
            <a:ext cx="14869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영상 재생</a:t>
            </a:r>
            <a:endParaRPr lang="en-US" sz="1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2221" y="8688495"/>
            <a:ext cx="247650" cy="2476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962826" y="2876550"/>
            <a:ext cx="2362349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 증원 없이,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191250" y="3707085"/>
            <a:ext cx="5905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99005" y="4212347"/>
            <a:ext cx="348999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0" b="1" spc="-750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pPr algn="ctr" indent="0" marL="0">
              <a:lnSpc>
                <a:spcPct val="90000"/>
              </a:lnSpc>
              <a:buNone/>
            </a:pPr>
            <a:r>
              <a:rPr lang="en-US" sz="6000" b="1" spc="-750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 원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4311748" y="6120388"/>
            <a:ext cx="966443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구독형 구조로 쌓이는 3년 누적 추가 매출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505471" y="7145410"/>
            <a:ext cx="52770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가정: 신규 전환율 개선 + 해약 저감 × 구독 단가 × 3년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5116" y="1238250"/>
            <a:ext cx="523776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현장의 목소리, 직접 들어봤습니다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206878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476500" y="2897899"/>
            <a:ext cx="6562725" cy="2019300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09875" y="3193174"/>
            <a:ext cx="60728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"'어디 가면 될까'에 쓰던 시간을 '어떻게 설득할까'에 집중합니다. 근거가 함께 떠서 방문 전 준비가 수월할 것 같아요."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809875" y="4107574"/>
            <a:ext cx="514350" cy="51435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7" name="Text 5"/>
          <p:cNvSpPr/>
          <p:nvPr/>
        </p:nvSpPr>
        <p:spPr>
          <a:xfrm>
            <a:off x="2771775" y="410757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48050" y="4112337"/>
            <a:ext cx="13701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고민석 프로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48050" y="4388562"/>
            <a:ext cx="13701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지사 컨설턴트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48775" y="2897899"/>
            <a:ext cx="6562725" cy="2019300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82150" y="3193174"/>
            <a:ext cx="60728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"화재 뉴스나 건축물대장까지 엮여 있는 게 신선했어요. 이건 어떠냐가 아니라 필수로 있어야 합니다."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82150" y="4107574"/>
            <a:ext cx="514350" cy="51435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544050" y="410757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20325" y="4112337"/>
            <a:ext cx="20885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김현철 프로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20325" y="4388562"/>
            <a:ext cx="20885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블루스캔그룹 컨설턴트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76500" y="5126749"/>
            <a:ext cx="6562725" cy="2019300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09875" y="5422024"/>
            <a:ext cx="60728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"감으로 찍던 걸 데이터로 보여주니까, 영업 갈 때 명분이 생기네요."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2809875" y="6336424"/>
            <a:ext cx="514350" cy="51435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71775" y="633642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48050" y="6341187"/>
            <a:ext cx="21451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정영준 파트장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48050" y="6617412"/>
            <a:ext cx="21451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경북 블루스캔 최다 판매자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48775" y="5126749"/>
            <a:ext cx="6562725" cy="2019300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82150" y="5422024"/>
            <a:ext cx="60728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"지역별 타깃이 한눈에 보이니까, 인력 배치나 목표 배분할 때 근거가 생깁니다."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82150" y="6336424"/>
            <a:ext cx="514350" cy="51435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544050" y="633642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20325" y="6341187"/>
            <a:ext cx="13632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정경섭 그룹장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20325" y="6617412"/>
            <a:ext cx="10557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블루스캔그룹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612" y="1047750"/>
            <a:ext cx="3658776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멈추지 않습니다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191250" y="1878285"/>
            <a:ext cx="5905500" cy="9525"/>
          </a:xfrm>
          <a:prstGeom prst="rect">
            <a:avLst/>
          </a:prstGeom>
          <a:solidFill>
            <a:srgbClr val="E6EAF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23178" y="2326400"/>
            <a:ext cx="624164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방향으로 </a:t>
            </a:r>
            <a:pPr algn="ctr" indent="0" marL="0">
              <a:lnSpc>
                <a:spcPct val="128000"/>
              </a:lnSpc>
              <a:buNone/>
            </a:pPr>
            <a:r>
              <a:rPr lang="en-US" sz="4500" b="1" spc="-13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키웁니다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905000" y="3499088"/>
            <a:ext cx="3476625" cy="2487662"/>
          </a:xfrm>
          <a:prstGeom prst="roundRect">
            <a:avLst>
              <a:gd name="adj" fmla="val 6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5000" y="5977225"/>
            <a:ext cx="3476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" name="Shape 5"/>
          <p:cNvSpPr/>
          <p:nvPr/>
        </p:nvSpPr>
        <p:spPr>
          <a:xfrm>
            <a:off x="1905000" y="3499088"/>
            <a:ext cx="3476625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8" name="Shape 6"/>
          <p:cNvSpPr/>
          <p:nvPr/>
        </p:nvSpPr>
        <p:spPr>
          <a:xfrm>
            <a:off x="1905000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5372100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" name="Text 8"/>
          <p:cNvSpPr/>
          <p:nvPr/>
        </p:nvSpPr>
        <p:spPr>
          <a:xfrm>
            <a:off x="2162175" y="3822938"/>
            <a:ext cx="325850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가망 발굴 고도화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02155" y="4297253"/>
            <a:ext cx="319849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실계약·건축물대장 지속 학습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→ CRM 연동 확대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확도 낮은 물건 대리점 연계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72125" y="3499088"/>
            <a:ext cx="3476625" cy="2487662"/>
          </a:xfrm>
          <a:prstGeom prst="roundRect">
            <a:avLst>
              <a:gd name="adj" fmla="val 6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2125" y="5977225"/>
            <a:ext cx="3476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2125" y="3499088"/>
            <a:ext cx="3476625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2125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9225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" name="Text 15"/>
          <p:cNvSpPr/>
          <p:nvPr/>
        </p:nvSpPr>
        <p:spPr>
          <a:xfrm>
            <a:off x="5829300" y="3822938"/>
            <a:ext cx="325850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리텐션 보강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669280" y="4297253"/>
            <a:ext cx="3198495" cy="1432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 현황 지도 (주변 영업 활용)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유지·신호 데이터 영업관리 연동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39250" y="3499088"/>
            <a:ext cx="3476625" cy="2487662"/>
          </a:xfrm>
          <a:prstGeom prst="roundRect">
            <a:avLst>
              <a:gd name="adj" fmla="val 6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9250" y="5977225"/>
            <a:ext cx="3476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9250" y="3499088"/>
            <a:ext cx="3476625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9250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06350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Text 22"/>
          <p:cNvSpPr/>
          <p:nvPr/>
        </p:nvSpPr>
        <p:spPr>
          <a:xfrm>
            <a:off x="9496425" y="3822938"/>
            <a:ext cx="325850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컨텐츠 확보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336405" y="4297253"/>
            <a:ext cx="319849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사고·신호 기반 인사이트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제안서·견적서 자동 작성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지침·사례 RAG 가이드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906375" y="3499088"/>
            <a:ext cx="3476625" cy="2487662"/>
          </a:xfrm>
          <a:prstGeom prst="roundRect">
            <a:avLst>
              <a:gd name="adj" fmla="val 6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906375" y="5977225"/>
            <a:ext cx="3476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906375" y="3499088"/>
            <a:ext cx="3476625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906375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373475" y="3499088"/>
            <a:ext cx="9525" cy="2487662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1" name="Text 29"/>
          <p:cNvSpPr/>
          <p:nvPr/>
        </p:nvSpPr>
        <p:spPr>
          <a:xfrm>
            <a:off x="13163550" y="3822938"/>
            <a:ext cx="325850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편의 향상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003530" y="4297253"/>
            <a:ext cx="319849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리스트 엑셀·메일 자동화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가망·견적 정합성 관리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3400" y="9701213"/>
            <a:ext cx="4236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922094" y="9701213"/>
            <a:ext cx="2235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6849145" y="3222203"/>
            <a:ext cx="778073" cy="400050"/>
          </a:xfrm>
          <a:prstGeom prst="roundRect">
            <a:avLst>
              <a:gd name="adj" fmla="val 23810"/>
            </a:avLst>
          </a:prstGeom>
          <a:solidFill>
            <a:srgbClr val="3556FF"/>
          </a:solidFill>
          <a:ln/>
        </p:spPr>
      </p:sp>
      <p:sp>
        <p:nvSpPr>
          <p:cNvPr id="4" name="Text 2"/>
          <p:cNvSpPr/>
          <p:nvPr/>
        </p:nvSpPr>
        <p:spPr>
          <a:xfrm>
            <a:off x="6944395" y="3279353"/>
            <a:ext cx="5875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760568" y="3262685"/>
            <a:ext cx="378855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Total AI System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026942" y="3908427"/>
            <a:ext cx="6234042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발굴은 BTS가. 사람은 설득에 집중합니다.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290874" y="5814801"/>
            <a:ext cx="37062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↑ + 해약 ↓ = 유지고 확대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075213" y="6489277"/>
            <a:ext cx="213757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300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7469520" y="9653588"/>
            <a:ext cx="2850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2026-07-09T01:18:37Z</dcterms:created>
  <dcterms:modified xsi:type="dcterms:W3CDTF">2026-07-09T01:18:37Z</dcterms:modified>
</cp:coreProperties>
</file>