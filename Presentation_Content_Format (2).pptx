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CEFFF">
                  <a:alpha val="100000"/>
                </a:srgbClr>
              </a:gs>
              <a:gs pos="46000">
                <a:srgbClr val="F7F9FE">
                  <a:alpha val="100000"/>
                </a:srgbClr>
              </a:gs>
            </a:gsLst>
            <a:path path="circle">
              <a:fillToRect l="88000" t="12000" r="12000" b="88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3464719"/>
            <a:ext cx="4839742" cy="495300"/>
          </a:xfrm>
          <a:prstGeom prst="roundRect">
            <a:avLst>
              <a:gd name="adj" fmla="val 50000"/>
            </a:avLst>
          </a:prstGeom>
          <a:solidFill>
            <a:srgbClr val="ECEFFF"/>
          </a:solidFill>
          <a:ln/>
        </p:spPr>
      </p:sp>
      <p:sp>
        <p:nvSpPr>
          <p:cNvPr id="4" name="Text 2"/>
          <p:cNvSpPr/>
          <p:nvPr/>
        </p:nvSpPr>
        <p:spPr>
          <a:xfrm>
            <a:off x="1352550" y="3569494"/>
            <a:ext cx="45658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BLTA · BlueScan Lead Transformation AI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4283869"/>
            <a:ext cx="1255776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750" b="1" spc="-304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방문할 곳은, </a:t>
            </a:r>
            <a:pPr algn="l" indent="0" marL="0">
              <a:lnSpc>
                <a:spcPct val="105000"/>
              </a:lnSpc>
              <a:buNone/>
            </a:pPr>
            <a:r>
              <a:rPr lang="en-US" sz="6750" b="1" spc="-30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정해져 있습니다</a:t>
            </a:r>
            <a:endParaRPr lang="en-US" sz="6750" dirty="0"/>
          </a:p>
        </p:txBody>
      </p:sp>
      <p:sp>
        <p:nvSpPr>
          <p:cNvPr id="6" name="Text 4"/>
          <p:cNvSpPr/>
          <p:nvPr/>
        </p:nvSpPr>
        <p:spPr>
          <a:xfrm>
            <a:off x="1143000" y="6388894"/>
            <a:ext cx="115766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영업 기회로 변환하는 AI 프로젝트. </a:t>
            </a:r>
            <a:pPr algn="l" indent="0" marL="0">
              <a:lnSpc>
                <a:spcPct val="150000"/>
              </a:lnSpc>
              <a:buNone/>
            </a:pPr>
            <a:r>
              <a:rPr lang="en-US" sz="217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외부 데이터와 사내 데이터를 한 곳에 모아 자동으로 분석하고, 가장 확도 높은 영업 대상을 발굴합니다.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1499674" y="9520238"/>
            <a:ext cx="564532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06 · B팀 류진석, 김두환, 김은영, 서지나, 최주희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2001500" y="1143000"/>
            <a:ext cx="8001000" cy="8001000"/>
          </a:xfrm>
          <a:prstGeom prst="ellipse">
            <a:avLst/>
          </a:prstGeom>
          <a:ln w="19050">
            <a:solidFill>
              <a:srgbClr val="DCE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39750" y="2381250"/>
            <a:ext cx="5524500" cy="5524500"/>
          </a:xfrm>
          <a:prstGeom prst="ellipse">
            <a:avLst/>
          </a:prstGeom>
          <a:ln w="19050">
            <a:solidFill>
              <a:srgbClr val="DCE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78000" y="3619500"/>
            <a:ext cx="3048000" cy="3048000"/>
          </a:xfrm>
          <a:prstGeom prst="ellipse">
            <a:avLst/>
          </a:prstGeom>
          <a:ln w="19050">
            <a:solidFill>
              <a:srgbClr val="DCE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16250" y="4857750"/>
            <a:ext cx="571500" cy="571500"/>
          </a:xfrm>
          <a:prstGeom prst="ellipse">
            <a:avLst/>
          </a:prstGeom>
          <a:ln w="19050">
            <a:solidFill>
              <a:srgbClr val="3556FF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30500" y="3048000"/>
            <a:ext cx="247650" cy="247650"/>
          </a:xfrm>
          <a:prstGeom prst="ellipse">
            <a:avLst/>
          </a:prstGeom>
          <a:solidFill>
            <a:srgbClr val="3556FF"/>
          </a:solidFill>
          <a:ln/>
          <a:effectLst>
            <a:outerShdw sx="100000" sy="100000" kx="0" ky="0" algn="bl" rotWithShape="0" blurRad="101600" dist="50800" dir="16200000">
              <a:srgbClr val="ECEFFF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859000" y="6515100"/>
            <a:ext cx="247650" cy="247650"/>
          </a:xfrm>
          <a:prstGeom prst="ellipse">
            <a:avLst/>
          </a:prstGeom>
          <a:solidFill>
            <a:srgbClr val="FB7A1E"/>
          </a:solidFill>
          <a:ln/>
          <a:effectLst>
            <a:outerShdw sx="100000" sy="100000" kx="0" ky="0" algn="bl" rotWithShape="0" blurRad="101600" dist="50800" dir="16200000">
              <a:srgbClr val="FFF1E3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373600" y="4762500"/>
            <a:ext cx="247650" cy="247650"/>
          </a:xfrm>
          <a:prstGeom prst="ellipse">
            <a:avLst/>
          </a:prstGeom>
          <a:solidFill>
            <a:srgbClr val="11B886"/>
          </a:solidFill>
          <a:ln/>
          <a:effectLst>
            <a:outerShdw sx="100000" sy="100000" kx="0" ky="0" algn="bl" rotWithShape="0" blurRad="101600" dist="50800" dir="16200000">
              <a:srgbClr val="DEF7EE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48386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및 취지 · 왜 시작했나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86"/>
            <a:ext cx="14716125" cy="14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블루스캔은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시큐리티사업부 NEXT 20년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책임질 사업, 기회는 거대하지만 아직 성과가 따라오지 못했습니다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3697497"/>
            <a:ext cx="8002488" cy="4327922"/>
          </a:xfrm>
          <a:prstGeom prst="roundRect">
            <a:avLst>
              <a:gd name="adj" fmla="val 5282"/>
            </a:avLst>
          </a:prstGeom>
          <a:gradFill rotWithShape="1">
            <a:gsLst>
              <a:gs pos="0">
                <a:srgbClr val="ECE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 w="9525">
            <a:solidFill>
              <a:srgbClr val="DCE2FF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0675" y="4221372"/>
            <a:ext cx="1127001" cy="342900"/>
          </a:xfrm>
          <a:prstGeom prst="roundRect">
            <a:avLst>
              <a:gd name="adj" fmla="val 50000"/>
            </a:avLst>
          </a:prstGeom>
          <a:solidFill>
            <a:srgbClr val="3556FF"/>
          </a:solidFill>
          <a:ln/>
        </p:spPr>
      </p:sp>
      <p:sp>
        <p:nvSpPr>
          <p:cNvPr id="7" name="Text 5"/>
          <p:cNvSpPr/>
          <p:nvPr/>
        </p:nvSpPr>
        <p:spPr>
          <a:xfrm>
            <a:off x="1724025" y="4278522"/>
            <a:ext cx="93650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기회요인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51026" y="4228516"/>
            <a:ext cx="204058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spc="-2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규모 · 성장성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590675" y="4945272"/>
            <a:ext cx="245222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spc="-17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14만 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17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1590675" y="5807284"/>
            <a:ext cx="8940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잠재시장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590675" y="6181141"/>
            <a:ext cx="230549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3천평미만 법인 중소빌딩 및 프랜차이즈 (기획서 기준)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9521" y="4945272"/>
            <a:ext cx="245230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spc="-17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17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100" dirty="0"/>
          </a:p>
        </p:txBody>
      </p:sp>
      <p:sp>
        <p:nvSpPr>
          <p:cNvPr id="13" name="Text 11"/>
          <p:cNvSpPr/>
          <p:nvPr/>
        </p:nvSpPr>
        <p:spPr>
          <a:xfrm>
            <a:off x="4029521" y="5807284"/>
            <a:ext cx="16366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시장 침투율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029521" y="6181141"/>
            <a:ext cx="24523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유지고객 약 2천 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8442" y="4945272"/>
            <a:ext cx="245222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spc="-17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17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%↑</a:t>
            </a:r>
            <a:endParaRPr lang="en-US" sz="5100" dirty="0"/>
          </a:p>
        </p:txBody>
      </p:sp>
      <p:sp>
        <p:nvSpPr>
          <p:cNvPr id="16" name="Text 14"/>
          <p:cNvSpPr/>
          <p:nvPr/>
        </p:nvSpPr>
        <p:spPr>
          <a:xfrm>
            <a:off x="6468442" y="5807284"/>
            <a:ext cx="16366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 대비 성장세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468442" y="6181141"/>
            <a:ext cx="24522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고성장세 지속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50288" y="3698084"/>
            <a:ext cx="7694712" cy="4327922"/>
          </a:xfrm>
          <a:prstGeom prst="roundRect">
            <a:avLst>
              <a:gd name="adj" fmla="val 5282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98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97963" y="4221959"/>
            <a:ext cx="1127001" cy="34290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1313" y="4279109"/>
            <a:ext cx="93650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제약요인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8314" y="4229103"/>
            <a:ext cx="2113583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spc="-2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인프라의 한계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897963" y="5890620"/>
            <a:ext cx="6799362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3" name="Text 21"/>
          <p:cNvSpPr/>
          <p:nvPr/>
        </p:nvSpPr>
        <p:spPr>
          <a:xfrm>
            <a:off x="9897963" y="4964909"/>
            <a:ext cx="1550670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인적 제약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479113" y="4945859"/>
            <a:ext cx="537475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수만 개 빌딩의 니즈 확인·방문 제안이 물리적으로 불가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97963" y="6848775"/>
            <a:ext cx="6799362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6" name="Text 24"/>
          <p:cNvSpPr/>
          <p:nvPr/>
        </p:nvSpPr>
        <p:spPr>
          <a:xfrm>
            <a:off x="9897963" y="6243045"/>
            <a:ext cx="1550670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 편차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1479113" y="6223995"/>
            <a:ext cx="574003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설계·제안에 대한 컨설턴트 간 역량 차이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97963" y="7201200"/>
            <a:ext cx="1550670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부족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79113" y="7182150"/>
            <a:ext cx="574003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알람의 신설사업자 맵과 같은 세일즈 툴이 부재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587119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히스토리 · 과도기적 결과물 · BTA (BlueScan Target Agent)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88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데이터에 집중했는데, 문득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실효성이 걱정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되었습니다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454195"/>
            <a:ext cx="6976467" cy="652463"/>
          </a:xfrm>
          <a:prstGeom prst="roundRect">
            <a:avLst>
              <a:gd name="adj" fmla="val 23358"/>
            </a:avLst>
          </a:prstGeom>
          <a:solidFill>
            <a:srgbClr val="131A33"/>
          </a:solidFill>
          <a:ln/>
        </p:spPr>
      </p:sp>
      <p:sp>
        <p:nvSpPr>
          <p:cNvPr id="6" name="Text 4"/>
          <p:cNvSpPr/>
          <p:nvPr/>
        </p:nvSpPr>
        <p:spPr>
          <a:xfrm>
            <a:off x="1286003" y="2644695"/>
            <a:ext cx="6690461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spc="-12" kern="0" dirty="0">
                <a:solidFill>
                  <a:srgbClr val="FFFFFF"/>
                </a:solidFill>
                <a:highlight>
                  <a:srgbClr val="131A3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총점 = </a:t>
            </a:r>
            <a:pPr algn="ctr" indent="0" marL="0">
              <a:buNone/>
            </a:pPr>
            <a:r>
              <a:rPr lang="en-US" sz="1725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3대 데이터 소스 50% </a:t>
            </a:r>
            <a:pPr algn="ctr" indent="0" marL="0">
              <a:buNone/>
            </a:pPr>
            <a:r>
              <a:rPr lang="en-US" sz="1725" b="1" spc="-12" kern="0" dirty="0">
                <a:solidFill>
                  <a:srgbClr val="FFFFFF"/>
                </a:solidFill>
                <a:highlight>
                  <a:srgbClr val="131A3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1725" b="1" spc="-12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Vworld 노후도 50% </a:t>
            </a:r>
            <a:pPr algn="ctr" indent="0" marL="0">
              <a:buNone/>
            </a:pPr>
            <a:r>
              <a:rPr lang="en-US" sz="1725" b="1" spc="-12" kern="0" dirty="0">
                <a:solidFill>
                  <a:srgbClr val="FFFFFF"/>
                </a:solidFill>
                <a:highlight>
                  <a:srgbClr val="131A3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→ A·B·C 등급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143000" y="3278108"/>
            <a:ext cx="6976467" cy="1543496"/>
          </a:xfrm>
          <a:prstGeom prst="roundRect">
            <a:avLst>
              <a:gd name="adj" fmla="val 98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4812079"/>
            <a:ext cx="6976467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278108"/>
            <a:ext cx="6976467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278108"/>
            <a:ext cx="47625" cy="1543496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11" name="Shape 9"/>
          <p:cNvSpPr/>
          <p:nvPr/>
        </p:nvSpPr>
        <p:spPr>
          <a:xfrm>
            <a:off x="8109942" y="3278108"/>
            <a:ext cx="9525" cy="1543496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" name="Text 10"/>
          <p:cNvSpPr/>
          <p:nvPr/>
        </p:nvSpPr>
        <p:spPr>
          <a:xfrm>
            <a:off x="1457325" y="3516233"/>
            <a:ext cx="26774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3대 외부 데이터 소스 종합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428384" y="3544808"/>
            <a:ext cx="4910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57325" y="3901995"/>
            <a:ext cx="7024509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데이터를 부문별 스코어링해 종합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457325" y="4278679"/>
            <a:ext cx="1591568" cy="3048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81150" y="4335829"/>
            <a:ext cx="14201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건축물대장·등기 40%</a:t>
            </a:r>
            <a:endParaRPr lang="en-US" sz="1238" dirty="0"/>
          </a:p>
        </p:txBody>
      </p:sp>
      <p:sp>
        <p:nvSpPr>
          <p:cNvPr id="17" name="Shape 15"/>
          <p:cNvSpPr/>
          <p:nvPr/>
        </p:nvSpPr>
        <p:spPr>
          <a:xfrm>
            <a:off x="3125093" y="4278679"/>
            <a:ext cx="1582936" cy="3048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8918" y="4335829"/>
            <a:ext cx="14114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소방청 화재이력 25%</a:t>
            </a:r>
            <a:endParaRPr lang="en-US" sz="1238" dirty="0"/>
          </a:p>
        </p:txBody>
      </p:sp>
      <p:sp>
        <p:nvSpPr>
          <p:cNvPr id="19" name="Shape 17"/>
          <p:cNvSpPr/>
          <p:nvPr/>
        </p:nvSpPr>
        <p:spPr>
          <a:xfrm>
            <a:off x="4784229" y="4278679"/>
            <a:ext cx="1499295" cy="3048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8054" y="4335829"/>
            <a:ext cx="13278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설비·법적 의무 35%</a:t>
            </a:r>
            <a:endParaRPr lang="en-US" sz="1238" dirty="0"/>
          </a:p>
        </p:txBody>
      </p:sp>
      <p:sp>
        <p:nvSpPr>
          <p:cNvPr id="21" name="Shape 19"/>
          <p:cNvSpPr/>
          <p:nvPr/>
        </p:nvSpPr>
        <p:spPr>
          <a:xfrm>
            <a:off x="1143000" y="4993055"/>
            <a:ext cx="6976467" cy="1543496"/>
          </a:xfrm>
          <a:prstGeom prst="roundRect">
            <a:avLst>
              <a:gd name="adj" fmla="val 98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43000" y="6527026"/>
            <a:ext cx="6976467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4993055"/>
            <a:ext cx="6976467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4993055"/>
            <a:ext cx="47625" cy="1543496"/>
          </a:xfrm>
          <a:prstGeom prst="rect">
            <a:avLst/>
          </a:prstGeom>
          <a:solidFill>
            <a:srgbClr val="6D5DE7"/>
          </a:solidFill>
          <a:ln/>
        </p:spPr>
      </p:sp>
      <p:sp>
        <p:nvSpPr>
          <p:cNvPr id="25" name="Shape 23"/>
          <p:cNvSpPr/>
          <p:nvPr/>
        </p:nvSpPr>
        <p:spPr>
          <a:xfrm>
            <a:off x="8109942" y="4993055"/>
            <a:ext cx="9525" cy="1543496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6" name="Text 24"/>
          <p:cNvSpPr/>
          <p:nvPr/>
        </p:nvSpPr>
        <p:spPr>
          <a:xfrm>
            <a:off x="1457325" y="5231180"/>
            <a:ext cx="356816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Vworld 수직보정 항공영상 AI 분석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7428384" y="5259755"/>
            <a:ext cx="4910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2" kern="0" dirty="0">
                <a:solidFill>
                  <a:srgbClr val="6D5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57325" y="5616942"/>
            <a:ext cx="7024509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국토지리정보원 공식 API · 컴퓨터비전 모델로 노후도 산출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457325" y="5993626"/>
            <a:ext cx="827484" cy="3048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81150" y="6050776"/>
            <a:ext cx="6560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지붕 상태</a:t>
            </a:r>
            <a:endParaRPr lang="en-US" sz="1238" dirty="0"/>
          </a:p>
        </p:txBody>
      </p:sp>
      <p:sp>
        <p:nvSpPr>
          <p:cNvPr id="31" name="Shape 29"/>
          <p:cNvSpPr/>
          <p:nvPr/>
        </p:nvSpPr>
        <p:spPr>
          <a:xfrm>
            <a:off x="2361009" y="5993626"/>
            <a:ext cx="827484" cy="3048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84834" y="6050776"/>
            <a:ext cx="6560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외벽 훼손</a:t>
            </a:r>
            <a:endParaRPr lang="en-US" sz="1238" dirty="0"/>
          </a:p>
        </p:txBody>
      </p:sp>
      <p:sp>
        <p:nvSpPr>
          <p:cNvPr id="33" name="Shape 31"/>
          <p:cNvSpPr/>
          <p:nvPr/>
        </p:nvSpPr>
        <p:spPr>
          <a:xfrm>
            <a:off x="3264694" y="5993626"/>
            <a:ext cx="961951" cy="3048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8519" y="6050776"/>
            <a:ext cx="7905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옥상 구조물</a:t>
            </a:r>
            <a:endParaRPr lang="en-US" sz="1238" dirty="0"/>
          </a:p>
        </p:txBody>
      </p:sp>
      <p:sp>
        <p:nvSpPr>
          <p:cNvPr id="35" name="Shape 33"/>
          <p:cNvSpPr/>
          <p:nvPr/>
        </p:nvSpPr>
        <p:spPr>
          <a:xfrm>
            <a:off x="4302844" y="5993626"/>
            <a:ext cx="1096342" cy="3048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 w="9525">
            <a:solidFill>
              <a:srgbClr val="E6EA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26669" y="6050776"/>
            <a:ext cx="92489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경과연수 연계</a:t>
            </a:r>
            <a:endParaRPr lang="en-US" sz="1238" dirty="0"/>
          </a:p>
        </p:txBody>
      </p:sp>
      <p:sp>
        <p:nvSpPr>
          <p:cNvPr id="37" name="Shape 35"/>
          <p:cNvSpPr/>
          <p:nvPr/>
        </p:nvSpPr>
        <p:spPr>
          <a:xfrm>
            <a:off x="8424267" y="2454195"/>
            <a:ext cx="8720733" cy="4565303"/>
          </a:xfrm>
          <a:prstGeom prst="roundRect">
            <a:avLst>
              <a:gd name="adj" fmla="val 3338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228600" dist="76200" dir="5400000">
              <a:srgbClr val="131A33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433792" y="2463720"/>
            <a:ext cx="8701683" cy="323850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39" name="Shape 37"/>
          <p:cNvSpPr/>
          <p:nvPr/>
        </p:nvSpPr>
        <p:spPr>
          <a:xfrm>
            <a:off x="8433792" y="2778045"/>
            <a:ext cx="8701683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0" name="Shape 38"/>
          <p:cNvSpPr/>
          <p:nvPr/>
        </p:nvSpPr>
        <p:spPr>
          <a:xfrm>
            <a:off x="8586192" y="2568495"/>
            <a:ext cx="104775" cy="10477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41" name="Shape 39"/>
          <p:cNvSpPr/>
          <p:nvPr/>
        </p:nvSpPr>
        <p:spPr>
          <a:xfrm>
            <a:off x="8767167" y="2568495"/>
            <a:ext cx="104775" cy="10477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42" name="Shape 40"/>
          <p:cNvSpPr/>
          <p:nvPr/>
        </p:nvSpPr>
        <p:spPr>
          <a:xfrm>
            <a:off x="8948142" y="2568495"/>
            <a:ext cx="104775" cy="10477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43" name="Shape 41"/>
          <p:cNvSpPr/>
          <p:nvPr/>
        </p:nvSpPr>
        <p:spPr>
          <a:xfrm>
            <a:off x="8433792" y="2787570"/>
            <a:ext cx="8701683" cy="3731866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44" name="Shape 42"/>
          <p:cNvSpPr/>
          <p:nvPr/>
        </p:nvSpPr>
        <p:spPr>
          <a:xfrm>
            <a:off x="8586192" y="4415378"/>
            <a:ext cx="476250" cy="476250"/>
          </a:xfrm>
          <a:prstGeom prst="ellipse">
            <a:avLst/>
          </a:prstGeom>
          <a:solidFill>
            <a:srgbClr val="131A33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605242" y="4424903"/>
            <a:ext cx="4381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6506825" y="4415378"/>
            <a:ext cx="476250" cy="476250"/>
          </a:xfrm>
          <a:prstGeom prst="ellipse">
            <a:avLst/>
          </a:prstGeom>
          <a:solidFill>
            <a:srgbClr val="131A33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6525875" y="4424903"/>
            <a:ext cx="4381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12232184" y="6252736"/>
            <a:ext cx="266700" cy="114300"/>
          </a:xfrm>
          <a:prstGeom prst="roundRect">
            <a:avLst>
              <a:gd name="adj" fmla="val 50000"/>
            </a:avLst>
          </a:prstGeom>
          <a:solidFill>
            <a:srgbClr val="3556FF"/>
          </a:solidFill>
          <a:ln/>
          <a:effectLst>
            <a:outerShdw sx="100000" sy="100000" kx="0" ky="0" algn="bl" rotWithShape="0" blurRad="38100" dist="9525" dir="54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2594134" y="6252736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  <a:effectLst>
            <a:outerShdw sx="100000" sy="100000" kx="0" ky="0" algn="bl" rotWithShape="0" blurRad="38100" dist="9525" dir="54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2803684" y="6252736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  <a:effectLst>
            <a:outerShdw sx="100000" sy="100000" kx="0" ky="0" algn="bl" rotWithShape="0" blurRad="38100" dist="9525" dir="54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3013234" y="6252736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  <a:effectLst>
            <a:outerShdw sx="100000" sy="100000" kx="0" ky="0" algn="bl" rotWithShape="0" blurRad="38100" dist="9525" dir="54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3222784" y="6252736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  <a:effectLst>
            <a:outerShdw sx="100000" sy="100000" kx="0" ky="0" algn="bl" rotWithShape="0" blurRad="38100" dist="9525" dir="54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433792" y="6519436"/>
            <a:ext cx="8701683" cy="4905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8433792" y="6519436"/>
            <a:ext cx="8701683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5" name="Text 53"/>
          <p:cNvSpPr/>
          <p:nvPr/>
        </p:nvSpPr>
        <p:spPr>
          <a:xfrm>
            <a:off x="8455667" y="6662311"/>
            <a:ext cx="86579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지역 선택</a:t>
            </a:r>
            <a:endParaRPr lang="en-US" sz="1425" dirty="0"/>
          </a:p>
        </p:txBody>
      </p:sp>
      <p:sp>
        <p:nvSpPr>
          <p:cNvPr id="56" name="Text 54"/>
          <p:cNvSpPr/>
          <p:nvPr/>
        </p:nvSpPr>
        <p:spPr>
          <a:xfrm>
            <a:off x="1143000" y="7268884"/>
            <a:ext cx="1760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B4534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1.0의 한계점 — 2.0으로 전향한 이유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1143000" y="7759421"/>
            <a:ext cx="5232350" cy="924818"/>
          </a:xfrm>
          <a:prstGeom prst="roundRect">
            <a:avLst>
              <a:gd name="adj" fmla="val 16479"/>
            </a:avLst>
          </a:prstGeom>
          <a:solidFill>
            <a:srgbClr val="FBF1F1"/>
          </a:solidFill>
          <a:ln w="9525">
            <a:solidFill>
              <a:srgbClr val="EAD2D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81125" y="7968971"/>
            <a:ext cx="285750" cy="28575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59" name="Text 57"/>
          <p:cNvSpPr/>
          <p:nvPr/>
        </p:nvSpPr>
        <p:spPr>
          <a:xfrm>
            <a:off x="1343025" y="796897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809750" y="7959446"/>
            <a:ext cx="445730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8E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 데이터는 개별 건물이 아닌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6E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행정구역 '구' 단위까지만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8E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제공 → 타깃팅 해상도 한계</a:t>
            </a:r>
            <a:endParaRPr lang="en-US" sz="1425" dirty="0"/>
          </a:p>
        </p:txBody>
      </p:sp>
      <p:sp>
        <p:nvSpPr>
          <p:cNvPr id="61" name="Shape 59"/>
          <p:cNvSpPr/>
          <p:nvPr/>
        </p:nvSpPr>
        <p:spPr>
          <a:xfrm>
            <a:off x="6527750" y="7759421"/>
            <a:ext cx="5232425" cy="924818"/>
          </a:xfrm>
          <a:prstGeom prst="roundRect">
            <a:avLst>
              <a:gd name="adj" fmla="val 16479"/>
            </a:avLst>
          </a:prstGeom>
          <a:solidFill>
            <a:srgbClr val="FBF1F1"/>
          </a:solidFill>
          <a:ln w="9525">
            <a:solidFill>
              <a:srgbClr val="EAD2D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5875" y="7968971"/>
            <a:ext cx="285750" cy="28575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3" name="Text 61"/>
          <p:cNvSpPr/>
          <p:nvPr/>
        </p:nvSpPr>
        <p:spPr>
          <a:xfrm>
            <a:off x="6727775" y="796897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194500" y="7959446"/>
            <a:ext cx="4457376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8E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건축물관리대장 중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6E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 데이터 수급 불가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8E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스코어링 신뢰도 제약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11912575" y="7759421"/>
            <a:ext cx="5232350" cy="924818"/>
          </a:xfrm>
          <a:prstGeom prst="roundRect">
            <a:avLst>
              <a:gd name="adj" fmla="val 16479"/>
            </a:avLst>
          </a:prstGeom>
          <a:solidFill>
            <a:srgbClr val="FBF1F1"/>
          </a:solidFill>
          <a:ln w="9525">
            <a:solidFill>
              <a:srgbClr val="EAD2D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150700" y="7968971"/>
            <a:ext cx="285750" cy="28575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7" name="Text 65"/>
          <p:cNvSpPr/>
          <p:nvPr/>
        </p:nvSpPr>
        <p:spPr>
          <a:xfrm>
            <a:off x="12112600" y="796897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2579325" y="7959446"/>
            <a:ext cx="445730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8E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Vworld 수직보정 항공영상의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6E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실효성 검증 난이도가 높음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spc="-12" kern="0" dirty="0">
                <a:solidFill>
                  <a:srgbClr val="8E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(왜곡·업데이트 지연)</a:t>
            </a:r>
            <a:endParaRPr lang="en-US" sz="1425" dirty="0"/>
          </a:p>
        </p:txBody>
      </p:sp>
      <p:sp>
        <p:nvSpPr>
          <p:cNvPr id="69" name="Text 67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89194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 · 왜 다르게 접근해야 하나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4716125" cy="14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토양을 분석하고 수확기를 기다리는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'농사형 영업'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영업의 방식이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달라야 합니다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3392686"/>
            <a:ext cx="7858125" cy="4823222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1625" y="3880842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EDF0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4025" y="4033242"/>
            <a:ext cx="323850" cy="323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1725" y="3859411"/>
            <a:ext cx="244895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에스원 세콤 · 물리 보안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2371725" y="4116586"/>
            <a:ext cx="244895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사냥 — Hunting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571625" y="5373886"/>
            <a:ext cx="700087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" name="Text 8"/>
          <p:cNvSpPr/>
          <p:nvPr/>
        </p:nvSpPr>
        <p:spPr>
          <a:xfrm>
            <a:off x="1571625" y="4816673"/>
            <a:ext cx="7210901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즉시성 중심의 단기전 · Short Lead-Time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1571625" y="5745361"/>
            <a:ext cx="1181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계기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2847975" y="5669161"/>
            <a:ext cx="629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이사·인테리어 공사, 주변 사건, 오픈 임박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71625" y="6332041"/>
            <a:ext cx="1181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결정권자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2847975" y="6255841"/>
            <a:ext cx="629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점주·소기업 대표 (1~2단계)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71625" y="6918722"/>
            <a:ext cx="1181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2847975" y="6842522"/>
            <a:ext cx="629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방문·견적 제안 (속도전)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71625" y="7505402"/>
            <a:ext cx="1181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리드 관리</a:t>
            </a:r>
            <a:endParaRPr lang="en-US" sz="1425" dirty="0"/>
          </a:p>
        </p:txBody>
      </p:sp>
      <p:sp>
        <p:nvSpPr>
          <p:cNvPr id="19" name="Text 16"/>
          <p:cNvSpPr/>
          <p:nvPr/>
        </p:nvSpPr>
        <p:spPr>
          <a:xfrm>
            <a:off x="2847975" y="7429202"/>
            <a:ext cx="629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 팔로업, 실패 시 즉시 종결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286875" y="3393022"/>
            <a:ext cx="7858125" cy="4823222"/>
          </a:xfrm>
          <a:prstGeom prst="roundRect">
            <a:avLst>
              <a:gd name="adj" fmla="val 4740"/>
            </a:avLst>
          </a:prstGeom>
          <a:gradFill rotWithShape="1">
            <a:gsLst>
              <a:gs pos="0">
                <a:srgbClr val="ECE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 w="9525">
            <a:solidFill>
              <a:srgbClr val="DCE2FF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99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715500" y="3881178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DCE2F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900" y="4033578"/>
            <a:ext cx="323850" cy="3238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515600" y="3859747"/>
            <a:ext cx="272013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에스원 블루스캔 · 스마트 빌딩 관리</a:t>
            </a:r>
            <a:endParaRPr lang="en-US" sz="1425" dirty="0"/>
          </a:p>
        </p:txBody>
      </p:sp>
      <p:sp>
        <p:nvSpPr>
          <p:cNvPr id="24" name="Text 20"/>
          <p:cNvSpPr/>
          <p:nvPr/>
        </p:nvSpPr>
        <p:spPr>
          <a:xfrm>
            <a:off x="10515600" y="4116922"/>
            <a:ext cx="253219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농사 — Farming</a:t>
            </a:r>
            <a:endParaRPr lang="en-US" sz="2700" dirty="0"/>
          </a:p>
        </p:txBody>
      </p:sp>
      <p:sp>
        <p:nvSpPr>
          <p:cNvPr id="25" name="Shape 21"/>
          <p:cNvSpPr/>
          <p:nvPr/>
        </p:nvSpPr>
        <p:spPr>
          <a:xfrm>
            <a:off x="9715500" y="5374222"/>
            <a:ext cx="7000875" cy="9525"/>
          </a:xfrm>
          <a:prstGeom prst="rect">
            <a:avLst/>
          </a:prstGeom>
          <a:solidFill>
            <a:srgbClr val="DCE2FF"/>
          </a:solidFill>
          <a:ln/>
        </p:spPr>
      </p:sp>
      <p:sp>
        <p:nvSpPr>
          <p:cNvPr id="26" name="Text 22"/>
          <p:cNvSpPr/>
          <p:nvPr/>
        </p:nvSpPr>
        <p:spPr>
          <a:xfrm>
            <a:off x="9715500" y="4817009"/>
            <a:ext cx="7210901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기반의 장기전 · Long Lead-Time</a:t>
            </a:r>
            <a:endParaRPr lang="en-US" sz="1725" dirty="0"/>
          </a:p>
        </p:txBody>
      </p:sp>
      <p:sp>
        <p:nvSpPr>
          <p:cNvPr id="27" name="Text 23"/>
          <p:cNvSpPr/>
          <p:nvPr/>
        </p:nvSpPr>
        <p:spPr>
          <a:xfrm>
            <a:off x="9715500" y="5745697"/>
            <a:ext cx="1181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계기</a:t>
            </a:r>
            <a:endParaRPr lang="en-US" sz="1425" dirty="0"/>
          </a:p>
        </p:txBody>
      </p:sp>
      <p:sp>
        <p:nvSpPr>
          <p:cNvPr id="28" name="Text 24"/>
          <p:cNvSpPr/>
          <p:nvPr/>
        </p:nvSpPr>
        <p:spPr>
          <a:xfrm>
            <a:off x="10991850" y="5669497"/>
            <a:ext cx="629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절감, 법적 규제(소방·안전), 설비 노후화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9715500" y="6332377"/>
            <a:ext cx="1181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결정권자</a:t>
            </a:r>
            <a:endParaRPr lang="en-US" sz="1425" dirty="0"/>
          </a:p>
        </p:txBody>
      </p:sp>
      <p:sp>
        <p:nvSpPr>
          <p:cNvPr id="30" name="Text 26"/>
          <p:cNvSpPr/>
          <p:nvPr/>
        </p:nvSpPr>
        <p:spPr>
          <a:xfrm>
            <a:off x="10991850" y="6256177"/>
            <a:ext cx="629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건물주·관리소장·자산운영사·임원 (다단계)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9715500" y="6919058"/>
            <a:ext cx="1181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</a:t>
            </a:r>
            <a:endParaRPr lang="en-US" sz="1425" dirty="0"/>
          </a:p>
        </p:txBody>
      </p:sp>
      <p:sp>
        <p:nvSpPr>
          <p:cNvPr id="32" name="Text 28"/>
          <p:cNvSpPr/>
          <p:nvPr/>
        </p:nvSpPr>
        <p:spPr>
          <a:xfrm>
            <a:off x="10991850" y="6842858"/>
            <a:ext cx="629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 데이터 분석·컨설팅 (전략전)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9715500" y="7505738"/>
            <a:ext cx="11811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리드 관리</a:t>
            </a:r>
            <a:endParaRPr lang="en-US" sz="1425" dirty="0"/>
          </a:p>
        </p:txBody>
      </p:sp>
      <p:sp>
        <p:nvSpPr>
          <p:cNvPr id="34" name="Text 30"/>
          <p:cNvSpPr/>
          <p:nvPr/>
        </p:nvSpPr>
        <p:spPr>
          <a:xfrm>
            <a:off x="10991850" y="7429538"/>
            <a:ext cx="629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히스토리 관리·너처링(Nurturing)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316412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현재 블루스캔 영업의 한계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호흡의 영업, 캐내지 못한 영업 기회,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놓친 길목은 없을까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853630"/>
            <a:ext cx="7858125" cy="2809875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1625" y="3339405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FFF1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3550" y="3501330"/>
            <a:ext cx="38100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24125" y="3339405"/>
            <a:ext cx="665321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01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2524125" y="3668018"/>
            <a:ext cx="665321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96%의 고객이 기존 알람 고객, 그러나 데이터 활용은?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524125" y="4149030"/>
            <a:ext cx="622982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계약에서 계약이 이뤄지지만, 사내 데이터를 사람이 일일이 들여다보고 가공하지 않으면 영업 기회는 발굴되지 않습니다.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286875" y="2853953"/>
            <a:ext cx="7858125" cy="2809875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991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715500" y="3339728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ECE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7425" y="3501653"/>
            <a:ext cx="381000" cy="381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668000" y="3339728"/>
            <a:ext cx="665321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02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10668000" y="3668341"/>
            <a:ext cx="665321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흩어진 인사이트 데이터는 하나하나 직접 수집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10668000" y="4149354"/>
            <a:ext cx="622982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가능성이 높은 건물을 찾으려면 건축물 생애 이력·노후도·주변 환경 등 여러 곳에 흩어진 인사이트 데이터를 사람이 직접 수집해야 합니다.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143000" y="5950920"/>
            <a:ext cx="7858125" cy="2466975"/>
          </a:xfrm>
          <a:prstGeom prst="roundRect">
            <a:avLst>
              <a:gd name="adj" fmla="val 9266"/>
            </a:avLst>
          </a:prstGeom>
          <a:solidFill>
            <a:srgbClr val="FFFFFF">
              <a:alpha val="99000"/>
            </a:srgbClr>
          </a:solidFill>
          <a:ln w="9525">
            <a:solidFill>
              <a:srgbClr val="E6EAF3">
                <a:alpha val="99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952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571625" y="6436695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FFF1D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3550" y="6598620"/>
            <a:ext cx="381000" cy="381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24125" y="6436695"/>
            <a:ext cx="665321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03</a:t>
            </a:r>
            <a:endParaRPr lang="en-US" sz="1425" dirty="0"/>
          </a:p>
        </p:txBody>
      </p:sp>
      <p:sp>
        <p:nvSpPr>
          <p:cNvPr id="21" name="Text 16"/>
          <p:cNvSpPr/>
          <p:nvPr/>
        </p:nvSpPr>
        <p:spPr>
          <a:xfrm>
            <a:off x="2524125" y="6765308"/>
            <a:ext cx="665321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화재·사고 트렌드 포착이 느려 타이밍을 놓침</a:t>
            </a:r>
            <a:endParaRPr lang="en-US" sz="2250" dirty="0"/>
          </a:p>
        </p:txBody>
      </p:sp>
      <p:sp>
        <p:nvSpPr>
          <p:cNvPr id="22" name="Text 17"/>
          <p:cNvSpPr/>
          <p:nvPr/>
        </p:nvSpPr>
        <p:spPr>
          <a:xfrm>
            <a:off x="2524125" y="7246320"/>
            <a:ext cx="622982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 등 사고 뉴스는 보안·관리 수요가 커지는 타이밍 신호이지만, 이를 영업 접촉으로 연결하는 체계가 없습니다.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286875" y="5953700"/>
            <a:ext cx="7858125" cy="2466975"/>
          </a:xfrm>
          <a:prstGeom prst="roundRect">
            <a:avLst>
              <a:gd name="adj" fmla="val 926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E6EAF3">
                <a:alpha val="98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873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715500" y="6439475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EEF1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7425" y="6601400"/>
            <a:ext cx="381000" cy="3810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668000" y="6439475"/>
            <a:ext cx="648156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04</a:t>
            </a:r>
            <a:endParaRPr lang="en-US" sz="1425" dirty="0"/>
          </a:p>
        </p:txBody>
      </p:sp>
      <p:sp>
        <p:nvSpPr>
          <p:cNvPr id="27" name="Text 21"/>
          <p:cNvSpPr/>
          <p:nvPr/>
        </p:nvSpPr>
        <p:spPr>
          <a:xfrm>
            <a:off x="10668000" y="6768087"/>
            <a:ext cx="648156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결과가 자산화되지 않음</a:t>
            </a:r>
            <a:endParaRPr lang="en-US" sz="2250" dirty="0"/>
          </a:p>
        </p:txBody>
      </p:sp>
      <p:sp>
        <p:nvSpPr>
          <p:cNvPr id="28" name="Text 22"/>
          <p:cNvSpPr/>
          <p:nvPr/>
        </p:nvSpPr>
        <p:spPr>
          <a:xfrm>
            <a:off x="10668000" y="7249100"/>
            <a:ext cx="64815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결과는 개인 메모로만 남아, 조직의 자산으로 쌓이지 않습니다.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310663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· 현행 영업 준비 프로세스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흩어지고, 기회는 사라집니다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934930"/>
            <a:ext cx="3857625" cy="51435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6" name="Shape 4"/>
          <p:cNvSpPr/>
          <p:nvPr/>
        </p:nvSpPr>
        <p:spPr>
          <a:xfrm>
            <a:off x="1793156" y="305875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755056" y="305875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55106" y="3065898"/>
            <a:ext cx="22715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업셀링 가능 알람 고객 수집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3601680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433510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360168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3601680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3" name="Shape 11"/>
          <p:cNvSpPr/>
          <p:nvPr/>
        </p:nvSpPr>
        <p:spPr>
          <a:xfrm>
            <a:off x="4991100" y="3601680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" name="Text 12"/>
          <p:cNvSpPr/>
          <p:nvPr/>
        </p:nvSpPr>
        <p:spPr>
          <a:xfrm>
            <a:off x="1362075" y="3844567"/>
            <a:ext cx="15497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 리스트 출력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85136" y="4401780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143000" y="4620855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43000" y="535428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462085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620855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91100" y="4620855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1" name="Text 19"/>
          <p:cNvSpPr/>
          <p:nvPr/>
        </p:nvSpPr>
        <p:spPr>
          <a:xfrm>
            <a:off x="1362075" y="4863742"/>
            <a:ext cx="2368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추출 의뢰(Open-SR)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85136" y="5420955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1143000" y="5640030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43000" y="637345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564003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5640030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27" name="Shape 25"/>
          <p:cNvSpPr/>
          <p:nvPr/>
        </p:nvSpPr>
        <p:spPr>
          <a:xfrm>
            <a:off x="4991100" y="5640030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8" name="Text 26"/>
          <p:cNvSpPr/>
          <p:nvPr/>
        </p:nvSpPr>
        <p:spPr>
          <a:xfrm>
            <a:off x="1362075" y="5882917"/>
            <a:ext cx="17859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데이터 메일 수신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85136" y="6440130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1143000" y="6659205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143000" y="739263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3000" y="665920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3000" y="6659205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34" name="Shape 32"/>
          <p:cNvSpPr/>
          <p:nvPr/>
        </p:nvSpPr>
        <p:spPr>
          <a:xfrm>
            <a:off x="4991100" y="6659205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5" name="Text 33"/>
          <p:cNvSpPr/>
          <p:nvPr/>
        </p:nvSpPr>
        <p:spPr>
          <a:xfrm>
            <a:off x="1362075" y="6902092"/>
            <a:ext cx="24377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정제 및 취합 양식 제작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191125" y="2934930"/>
            <a:ext cx="3857625" cy="51435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37" name="Shape 35"/>
          <p:cNvSpPr/>
          <p:nvPr/>
        </p:nvSpPr>
        <p:spPr>
          <a:xfrm>
            <a:off x="6076578" y="305875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038478" y="305875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38528" y="3065898"/>
            <a:ext cx="180096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데이터 수집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5191125" y="3601680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191125" y="433510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2" name="Shape 40"/>
          <p:cNvSpPr/>
          <p:nvPr/>
        </p:nvSpPr>
        <p:spPr>
          <a:xfrm>
            <a:off x="5191125" y="360168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3" name="Shape 41"/>
          <p:cNvSpPr/>
          <p:nvPr/>
        </p:nvSpPr>
        <p:spPr>
          <a:xfrm>
            <a:off x="5191125" y="3601680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44" name="Shape 42"/>
          <p:cNvSpPr/>
          <p:nvPr/>
        </p:nvSpPr>
        <p:spPr>
          <a:xfrm>
            <a:off x="9039225" y="3601680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5" name="Text 43"/>
          <p:cNvSpPr/>
          <p:nvPr/>
        </p:nvSpPr>
        <p:spPr>
          <a:xfrm>
            <a:off x="5410200" y="3844567"/>
            <a:ext cx="16728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공공데이터포털 접속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133261" y="4401780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5191125" y="4620855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191125" y="535428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9" name="Shape 47"/>
          <p:cNvSpPr/>
          <p:nvPr/>
        </p:nvSpPr>
        <p:spPr>
          <a:xfrm>
            <a:off x="5191125" y="462085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0" name="Shape 48"/>
          <p:cNvSpPr/>
          <p:nvPr/>
        </p:nvSpPr>
        <p:spPr>
          <a:xfrm>
            <a:off x="5191125" y="4620855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51" name="Shape 49"/>
          <p:cNvSpPr/>
          <p:nvPr/>
        </p:nvSpPr>
        <p:spPr>
          <a:xfrm>
            <a:off x="9039225" y="4620855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2" name="Text 50"/>
          <p:cNvSpPr/>
          <p:nvPr/>
        </p:nvSpPr>
        <p:spPr>
          <a:xfrm>
            <a:off x="5410200" y="4863742"/>
            <a:ext cx="27969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 대장 육안 확인 및 다운로드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133261" y="5420955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5191125" y="5640030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191125" y="637345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6" name="Shape 54"/>
          <p:cNvSpPr/>
          <p:nvPr/>
        </p:nvSpPr>
        <p:spPr>
          <a:xfrm>
            <a:off x="5191125" y="564003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7" name="Shape 55"/>
          <p:cNvSpPr/>
          <p:nvPr/>
        </p:nvSpPr>
        <p:spPr>
          <a:xfrm>
            <a:off x="5191125" y="5640030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58" name="Shape 56"/>
          <p:cNvSpPr/>
          <p:nvPr/>
        </p:nvSpPr>
        <p:spPr>
          <a:xfrm>
            <a:off x="9039225" y="5640030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9" name="Text 57"/>
          <p:cNvSpPr/>
          <p:nvPr/>
        </p:nvSpPr>
        <p:spPr>
          <a:xfrm>
            <a:off x="5410200" y="5882917"/>
            <a:ext cx="3089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홍수지도 육안 확인 및 수기 기입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133261" y="6440130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61" name="Shape 59"/>
          <p:cNvSpPr/>
          <p:nvPr/>
        </p:nvSpPr>
        <p:spPr>
          <a:xfrm>
            <a:off x="5191125" y="6659205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191125" y="739263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3" name="Shape 61"/>
          <p:cNvSpPr/>
          <p:nvPr/>
        </p:nvSpPr>
        <p:spPr>
          <a:xfrm>
            <a:off x="5191125" y="665920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4" name="Shape 62"/>
          <p:cNvSpPr/>
          <p:nvPr/>
        </p:nvSpPr>
        <p:spPr>
          <a:xfrm>
            <a:off x="5191125" y="6659205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65" name="Shape 63"/>
          <p:cNvSpPr/>
          <p:nvPr/>
        </p:nvSpPr>
        <p:spPr>
          <a:xfrm>
            <a:off x="9039225" y="6659205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6" name="Text 64"/>
          <p:cNvSpPr/>
          <p:nvPr/>
        </p:nvSpPr>
        <p:spPr>
          <a:xfrm>
            <a:off x="5410200" y="6902092"/>
            <a:ext cx="24377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정제 및 취합 양식 제작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9239250" y="2934930"/>
            <a:ext cx="3857625" cy="51435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68" name="Shape 66"/>
          <p:cNvSpPr/>
          <p:nvPr/>
        </p:nvSpPr>
        <p:spPr>
          <a:xfrm>
            <a:off x="10090845" y="305875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052745" y="305875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452795" y="3065898"/>
            <a:ext cx="186868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화재·사고 트렌드 포착</a:t>
            </a:r>
            <a:endParaRPr lang="en-US" sz="1650" dirty="0"/>
          </a:p>
        </p:txBody>
      </p:sp>
      <p:sp>
        <p:nvSpPr>
          <p:cNvPr id="71" name="Shape 69"/>
          <p:cNvSpPr/>
          <p:nvPr/>
        </p:nvSpPr>
        <p:spPr>
          <a:xfrm>
            <a:off x="9239250" y="3601680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239250" y="433510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3" name="Shape 71"/>
          <p:cNvSpPr/>
          <p:nvPr/>
        </p:nvSpPr>
        <p:spPr>
          <a:xfrm>
            <a:off x="9239250" y="360168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4" name="Shape 72"/>
          <p:cNvSpPr/>
          <p:nvPr/>
        </p:nvSpPr>
        <p:spPr>
          <a:xfrm>
            <a:off x="9239250" y="3601680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75" name="Shape 73"/>
          <p:cNvSpPr/>
          <p:nvPr/>
        </p:nvSpPr>
        <p:spPr>
          <a:xfrm>
            <a:off x="13087350" y="3601680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6" name="Text 74"/>
          <p:cNvSpPr/>
          <p:nvPr/>
        </p:nvSpPr>
        <p:spPr>
          <a:xfrm>
            <a:off x="9458325" y="3844567"/>
            <a:ext cx="22697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검색포털 접속 · 키워드 검색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9181386" y="4401780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78" name="Shape 76"/>
          <p:cNvSpPr/>
          <p:nvPr/>
        </p:nvSpPr>
        <p:spPr>
          <a:xfrm>
            <a:off x="9239250" y="4620855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239250" y="535428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0" name="Shape 78"/>
          <p:cNvSpPr/>
          <p:nvPr/>
        </p:nvSpPr>
        <p:spPr>
          <a:xfrm>
            <a:off x="9239250" y="462085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1" name="Shape 79"/>
          <p:cNvSpPr/>
          <p:nvPr/>
        </p:nvSpPr>
        <p:spPr>
          <a:xfrm>
            <a:off x="9239250" y="4620855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82" name="Shape 80"/>
          <p:cNvSpPr/>
          <p:nvPr/>
        </p:nvSpPr>
        <p:spPr>
          <a:xfrm>
            <a:off x="13087350" y="4620855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3" name="Text 81"/>
          <p:cNvSpPr/>
          <p:nvPr/>
        </p:nvSpPr>
        <p:spPr>
          <a:xfrm>
            <a:off x="9458325" y="4863742"/>
            <a:ext cx="1606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 기사 육안 확인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9181386" y="5420955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85" name="Shape 83"/>
          <p:cNvSpPr/>
          <p:nvPr/>
        </p:nvSpPr>
        <p:spPr>
          <a:xfrm>
            <a:off x="9239250" y="5640030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9239250" y="637345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7" name="Shape 85"/>
          <p:cNvSpPr/>
          <p:nvPr/>
        </p:nvSpPr>
        <p:spPr>
          <a:xfrm>
            <a:off x="9239250" y="564003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8" name="Shape 86"/>
          <p:cNvSpPr/>
          <p:nvPr/>
        </p:nvSpPr>
        <p:spPr>
          <a:xfrm>
            <a:off x="9239250" y="5640030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89" name="Shape 87"/>
          <p:cNvSpPr/>
          <p:nvPr/>
        </p:nvSpPr>
        <p:spPr>
          <a:xfrm>
            <a:off x="13087350" y="5640030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0" name="Text 88"/>
          <p:cNvSpPr/>
          <p:nvPr/>
        </p:nvSpPr>
        <p:spPr>
          <a:xfrm>
            <a:off x="9458325" y="5882917"/>
            <a:ext cx="21451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주관적 위험도 판단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9181386" y="6440130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92" name="Shape 90"/>
          <p:cNvSpPr/>
          <p:nvPr/>
        </p:nvSpPr>
        <p:spPr>
          <a:xfrm>
            <a:off x="9239250" y="6659205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9239250" y="739263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4" name="Shape 92"/>
          <p:cNvSpPr/>
          <p:nvPr/>
        </p:nvSpPr>
        <p:spPr>
          <a:xfrm>
            <a:off x="9239250" y="665920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5" name="Shape 93"/>
          <p:cNvSpPr/>
          <p:nvPr/>
        </p:nvSpPr>
        <p:spPr>
          <a:xfrm>
            <a:off x="9239250" y="6659205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96" name="Shape 94"/>
          <p:cNvSpPr/>
          <p:nvPr/>
        </p:nvSpPr>
        <p:spPr>
          <a:xfrm>
            <a:off x="13087350" y="6659205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7" name="Text 95"/>
          <p:cNvSpPr/>
          <p:nvPr/>
        </p:nvSpPr>
        <p:spPr>
          <a:xfrm>
            <a:off x="9458325" y="6902092"/>
            <a:ext cx="22016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정제 및 컨텐츠 제작</a:t>
            </a:r>
            <a:endParaRPr lang="en-US" sz="1500" dirty="0"/>
          </a:p>
        </p:txBody>
      </p:sp>
      <p:sp>
        <p:nvSpPr>
          <p:cNvPr id="98" name="Shape 96"/>
          <p:cNvSpPr/>
          <p:nvPr/>
        </p:nvSpPr>
        <p:spPr>
          <a:xfrm>
            <a:off x="13287375" y="2934930"/>
            <a:ext cx="3857625" cy="51435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99" name="Shape 97"/>
          <p:cNvSpPr/>
          <p:nvPr/>
        </p:nvSpPr>
        <p:spPr>
          <a:xfrm>
            <a:off x="14351943" y="305875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14313843" y="305875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14713893" y="3065898"/>
            <a:ext cx="144266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결과 자산화</a:t>
            </a:r>
            <a:endParaRPr lang="en-US" sz="1650" dirty="0"/>
          </a:p>
        </p:txBody>
      </p:sp>
      <p:sp>
        <p:nvSpPr>
          <p:cNvPr id="102" name="Shape 100"/>
          <p:cNvSpPr/>
          <p:nvPr/>
        </p:nvSpPr>
        <p:spPr>
          <a:xfrm>
            <a:off x="13287375" y="3601680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13287375" y="433510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3287375" y="360168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3287375" y="3601680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7135475" y="3601680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7" name="Text 105"/>
          <p:cNvSpPr/>
          <p:nvPr/>
        </p:nvSpPr>
        <p:spPr>
          <a:xfrm>
            <a:off x="13506450" y="3844567"/>
            <a:ext cx="9439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인터뷰</a:t>
            </a:r>
            <a:endParaRPr lang="en-US" sz="1500" dirty="0"/>
          </a:p>
        </p:txBody>
      </p:sp>
      <p:sp>
        <p:nvSpPr>
          <p:cNvPr id="108" name="Text 106"/>
          <p:cNvSpPr/>
          <p:nvPr/>
        </p:nvSpPr>
        <p:spPr>
          <a:xfrm>
            <a:off x="13229511" y="4401780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09" name="Shape 107"/>
          <p:cNvSpPr/>
          <p:nvPr/>
        </p:nvSpPr>
        <p:spPr>
          <a:xfrm>
            <a:off x="13287375" y="4620855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13287375" y="535428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3287375" y="462085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3287375" y="4620855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7135475" y="4620855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4" name="Text 112"/>
          <p:cNvSpPr/>
          <p:nvPr/>
        </p:nvSpPr>
        <p:spPr>
          <a:xfrm>
            <a:off x="13506450" y="4863742"/>
            <a:ext cx="17293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사무실에서 엑셀 입력</a:t>
            </a:r>
            <a:endParaRPr lang="en-US" sz="1500" dirty="0"/>
          </a:p>
        </p:txBody>
      </p:sp>
      <p:sp>
        <p:nvSpPr>
          <p:cNvPr id="115" name="Text 113"/>
          <p:cNvSpPr/>
          <p:nvPr/>
        </p:nvSpPr>
        <p:spPr>
          <a:xfrm>
            <a:off x="13229511" y="5420955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16" name="Shape 114"/>
          <p:cNvSpPr/>
          <p:nvPr/>
        </p:nvSpPr>
        <p:spPr>
          <a:xfrm>
            <a:off x="13287375" y="5640030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13287375" y="637345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3287375" y="564003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3287375" y="5640030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7135475" y="5640030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1" name="Text 119"/>
          <p:cNvSpPr/>
          <p:nvPr/>
        </p:nvSpPr>
        <p:spPr>
          <a:xfrm>
            <a:off x="13506450" y="5882917"/>
            <a:ext cx="7806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 취합</a:t>
            </a:r>
            <a:endParaRPr lang="en-US" sz="1500" dirty="0"/>
          </a:p>
        </p:txBody>
      </p:sp>
      <p:sp>
        <p:nvSpPr>
          <p:cNvPr id="122" name="Text 120"/>
          <p:cNvSpPr/>
          <p:nvPr/>
        </p:nvSpPr>
        <p:spPr>
          <a:xfrm>
            <a:off x="13229511" y="6440130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23" name="Shape 121"/>
          <p:cNvSpPr/>
          <p:nvPr/>
        </p:nvSpPr>
        <p:spPr>
          <a:xfrm>
            <a:off x="13287375" y="6659205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13287375" y="7392630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3287375" y="6659205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3287375" y="6659205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7135475" y="6659205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8" name="Text 126"/>
          <p:cNvSpPr/>
          <p:nvPr/>
        </p:nvSpPr>
        <p:spPr>
          <a:xfrm>
            <a:off x="13506450" y="6902092"/>
            <a:ext cx="16628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사업팀 / 사업부 취합</a:t>
            </a:r>
            <a:endParaRPr lang="en-US" sz="1500" dirty="0"/>
          </a:p>
        </p:txBody>
      </p:sp>
      <p:sp>
        <p:nvSpPr>
          <p:cNvPr id="129" name="Text 127"/>
          <p:cNvSpPr/>
          <p:nvPr/>
        </p:nvSpPr>
        <p:spPr>
          <a:xfrm>
            <a:off x="902970" y="7460667"/>
            <a:ext cx="164820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30" name="Shape 128"/>
          <p:cNvSpPr/>
          <p:nvPr/>
        </p:nvSpPr>
        <p:spPr>
          <a:xfrm>
            <a:off x="1143000" y="7679742"/>
            <a:ext cx="3857625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31" name="Shape 129"/>
          <p:cNvSpPr/>
          <p:nvPr/>
        </p:nvSpPr>
        <p:spPr>
          <a:xfrm>
            <a:off x="1143000" y="8203617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143000" y="7679742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143000" y="7679742"/>
            <a:ext cx="47625" cy="53340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991100" y="7679742"/>
            <a:ext cx="9525" cy="53340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5" name="Text 133"/>
          <p:cNvSpPr/>
          <p:nvPr/>
        </p:nvSpPr>
        <p:spPr>
          <a:xfrm>
            <a:off x="1266111" y="7832142"/>
            <a:ext cx="36495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지사별 메일 배포 / 공유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5191125" y="7679742"/>
            <a:ext cx="3857625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5191125" y="8203617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5191125" y="7679742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191125" y="7679742"/>
            <a:ext cx="47625" cy="53340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039225" y="7679742"/>
            <a:ext cx="9525" cy="53340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1" name="Text 139"/>
          <p:cNvSpPr/>
          <p:nvPr/>
        </p:nvSpPr>
        <p:spPr>
          <a:xfrm>
            <a:off x="5314236" y="7832142"/>
            <a:ext cx="36495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지사별 메일 배포 / 공유</a:t>
            </a:r>
            <a:endParaRPr lang="en-US" sz="1500" dirty="0"/>
          </a:p>
        </p:txBody>
      </p:sp>
      <p:sp>
        <p:nvSpPr>
          <p:cNvPr id="142" name="Shape 140"/>
          <p:cNvSpPr/>
          <p:nvPr/>
        </p:nvSpPr>
        <p:spPr>
          <a:xfrm>
            <a:off x="9239250" y="7679742"/>
            <a:ext cx="3857625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9239250" y="8203617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239250" y="7679742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9239250" y="7679742"/>
            <a:ext cx="47625" cy="53340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3087350" y="7679742"/>
            <a:ext cx="9525" cy="53340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7" name="Text 145"/>
          <p:cNvSpPr/>
          <p:nvPr/>
        </p:nvSpPr>
        <p:spPr>
          <a:xfrm>
            <a:off x="9362361" y="7832142"/>
            <a:ext cx="36495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지사별 메일 배포 / 공유</a:t>
            </a:r>
            <a:endParaRPr lang="en-US" sz="1500" dirty="0"/>
          </a:p>
        </p:txBody>
      </p:sp>
      <p:sp>
        <p:nvSpPr>
          <p:cNvPr id="148" name="Shape 146"/>
          <p:cNvSpPr/>
          <p:nvPr/>
        </p:nvSpPr>
        <p:spPr>
          <a:xfrm>
            <a:off x="13287375" y="7679742"/>
            <a:ext cx="3857625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49" name="Shape 147"/>
          <p:cNvSpPr/>
          <p:nvPr/>
        </p:nvSpPr>
        <p:spPr>
          <a:xfrm>
            <a:off x="13287375" y="8203617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3287375" y="7679742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3287375" y="7679742"/>
            <a:ext cx="47625" cy="53340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7135475" y="7679742"/>
            <a:ext cx="9525" cy="53340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53" name="Text 151"/>
          <p:cNvSpPr/>
          <p:nvPr/>
        </p:nvSpPr>
        <p:spPr>
          <a:xfrm>
            <a:off x="13410486" y="7832142"/>
            <a:ext cx="36495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지사별 메일 배포 / 공유</a:t>
            </a:r>
            <a:endParaRPr lang="en-US" sz="1500" dirty="0"/>
          </a:p>
        </p:txBody>
      </p:sp>
      <p:sp>
        <p:nvSpPr>
          <p:cNvPr id="154" name="Text 152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155" name="Text 153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413875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사람이 하는 일 → AI가 대체할 지점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손으로 하던 일,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더 빠르고 정교하게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처리합니다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532162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400175" y="2510730"/>
            <a:ext cx="19377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자동 수집·처리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3452217" y="2532162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AEB6C9"/>
          </a:solidFill>
          <a:ln/>
        </p:spPr>
      </p:sp>
      <p:sp>
        <p:nvSpPr>
          <p:cNvPr id="8" name="Text 6"/>
          <p:cNvSpPr/>
          <p:nvPr/>
        </p:nvSpPr>
        <p:spPr>
          <a:xfrm>
            <a:off x="3709392" y="2510730"/>
            <a:ext cx="7221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4545881" y="2532162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6F7BA8"/>
          </a:solidFill>
          <a:ln/>
        </p:spPr>
      </p:sp>
      <p:sp>
        <p:nvSpPr>
          <p:cNvPr id="10" name="Text 8"/>
          <p:cNvSpPr/>
          <p:nvPr/>
        </p:nvSpPr>
        <p:spPr>
          <a:xfrm>
            <a:off x="4803056" y="2510730"/>
            <a:ext cx="54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크롤링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5458644" y="2532162"/>
            <a:ext cx="171450" cy="17145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0A82E">
                  <a:alpha val="100000"/>
                </a:srgbClr>
              </a:gs>
              <a:gs pos="100000">
                <a:srgbClr val="10B981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5715819" y="2510730"/>
            <a:ext cx="9929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수작업+LLM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823025" y="2532162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E0A82E"/>
          </a:solidFill>
          <a:ln/>
        </p:spPr>
      </p:sp>
      <p:sp>
        <p:nvSpPr>
          <p:cNvPr id="14" name="Text 12"/>
          <p:cNvSpPr/>
          <p:nvPr/>
        </p:nvSpPr>
        <p:spPr>
          <a:xfrm>
            <a:off x="7080200" y="2510730"/>
            <a:ext cx="54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7735788" y="2532162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0A7C5A"/>
          </a:solidFill>
          <a:ln/>
        </p:spPr>
      </p:sp>
      <p:sp>
        <p:nvSpPr>
          <p:cNvPr id="16" name="Text 14"/>
          <p:cNvSpPr/>
          <p:nvPr/>
        </p:nvSpPr>
        <p:spPr>
          <a:xfrm>
            <a:off x="7992963" y="2510730"/>
            <a:ext cx="129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읽고 판단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403556" y="2532162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9050">
            <a:solidFill>
              <a:srgbClr val="C2C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60731" y="2510730"/>
            <a:ext cx="8513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대시보드화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143000" y="2934929"/>
            <a:ext cx="3857625" cy="51435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3156" y="3058754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755056" y="305875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55106" y="3065898"/>
            <a:ext cx="22715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업셀링 가능 알람 고객 수집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43000" y="3601679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FFF6E0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1143000" y="433510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360167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3601679"/>
            <a:ext cx="47625" cy="74295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27" name="Shape 25"/>
          <p:cNvSpPr/>
          <p:nvPr/>
        </p:nvSpPr>
        <p:spPr>
          <a:xfrm>
            <a:off x="4991100" y="3601679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8" name="Shape 26"/>
          <p:cNvSpPr/>
          <p:nvPr/>
        </p:nvSpPr>
        <p:spPr>
          <a:xfrm>
            <a:off x="4350469" y="3506429"/>
            <a:ext cx="526331" cy="209550"/>
          </a:xfrm>
          <a:prstGeom prst="roundRect">
            <a:avLst>
              <a:gd name="adj" fmla="val 50000"/>
            </a:avLst>
          </a:prstGeom>
          <a:solidFill>
            <a:srgbClr val="D9920C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55244" y="3535004"/>
            <a:ext cx="3929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362075" y="3844567"/>
            <a:ext cx="15497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 리스트 출력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85136" y="4401779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143000" y="4620854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F3F1D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71450" dist="57150" dir="5400000">
              <a:srgbClr val="10B98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43000" y="535427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000" y="462085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000" y="4620854"/>
            <a:ext cx="47625" cy="7429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4991100" y="4620854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7" name="Shape 35"/>
          <p:cNvSpPr/>
          <p:nvPr/>
        </p:nvSpPr>
        <p:spPr>
          <a:xfrm>
            <a:off x="4043363" y="4525604"/>
            <a:ext cx="833438" cy="2095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A82E">
                  <a:alpha val="100000"/>
                </a:srgbClr>
              </a:gs>
              <a:gs pos="100000">
                <a:srgbClr val="10B981">
                  <a:alpha val="100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48137" y="4554179"/>
            <a:ext cx="700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수작업+LLM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362075" y="4863742"/>
            <a:ext cx="2368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추출 의뢰(Open-SR)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85136" y="5420954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1143000" y="5640029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FFF6E0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42" name="Shape 40"/>
          <p:cNvSpPr/>
          <p:nvPr/>
        </p:nvSpPr>
        <p:spPr>
          <a:xfrm>
            <a:off x="1143000" y="637345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3" name="Shape 41"/>
          <p:cNvSpPr/>
          <p:nvPr/>
        </p:nvSpPr>
        <p:spPr>
          <a:xfrm>
            <a:off x="1143000" y="564002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" y="5640029"/>
            <a:ext cx="47625" cy="74295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45" name="Shape 43"/>
          <p:cNvSpPr/>
          <p:nvPr/>
        </p:nvSpPr>
        <p:spPr>
          <a:xfrm>
            <a:off x="4991100" y="5640029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6" name="Shape 44"/>
          <p:cNvSpPr/>
          <p:nvPr/>
        </p:nvSpPr>
        <p:spPr>
          <a:xfrm>
            <a:off x="4350469" y="5544779"/>
            <a:ext cx="526331" cy="209550"/>
          </a:xfrm>
          <a:prstGeom prst="roundRect">
            <a:avLst>
              <a:gd name="adj" fmla="val 50000"/>
            </a:avLst>
          </a:prstGeom>
          <a:solidFill>
            <a:srgbClr val="D9920C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455244" y="5573354"/>
            <a:ext cx="3929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362075" y="5882916"/>
            <a:ext cx="17859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데이터 메일 수신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85136" y="6440129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1143000" y="6659204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D2EDE3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71450" dist="57150" dir="5400000">
              <a:srgbClr val="0A7C5A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143000" y="739262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3000" y="665920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3" name="Shape 51"/>
          <p:cNvSpPr/>
          <p:nvPr/>
        </p:nvSpPr>
        <p:spPr>
          <a:xfrm>
            <a:off x="1143000" y="6659204"/>
            <a:ext cx="47625" cy="742950"/>
          </a:xfrm>
          <a:prstGeom prst="rect">
            <a:avLst/>
          </a:prstGeom>
          <a:solidFill>
            <a:srgbClr val="0A7C5A"/>
          </a:solidFill>
          <a:ln/>
        </p:spPr>
      </p:sp>
      <p:sp>
        <p:nvSpPr>
          <p:cNvPr id="54" name="Shape 52"/>
          <p:cNvSpPr/>
          <p:nvPr/>
        </p:nvSpPr>
        <p:spPr>
          <a:xfrm>
            <a:off x="4991100" y="6659204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5" name="Shape 53"/>
          <p:cNvSpPr/>
          <p:nvPr/>
        </p:nvSpPr>
        <p:spPr>
          <a:xfrm>
            <a:off x="4430911" y="6563954"/>
            <a:ext cx="445889" cy="204788"/>
          </a:xfrm>
          <a:prstGeom prst="roundRect">
            <a:avLst>
              <a:gd name="adj" fmla="val 50000"/>
            </a:avLst>
          </a:prstGeom>
          <a:solidFill>
            <a:srgbClr val="0A7C5A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35686" y="6592529"/>
            <a:ext cx="312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1362075" y="6902091"/>
            <a:ext cx="24377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정제 및 취합 양식 제작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5191125" y="2934929"/>
            <a:ext cx="3857625" cy="51435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59" name="Shape 57"/>
          <p:cNvSpPr/>
          <p:nvPr/>
        </p:nvSpPr>
        <p:spPr>
          <a:xfrm>
            <a:off x="6076578" y="3058754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038478" y="305875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38528" y="3065898"/>
            <a:ext cx="180096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데이터 수집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5191125" y="3601679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5191125" y="433510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4" name="Shape 62"/>
          <p:cNvSpPr/>
          <p:nvPr/>
        </p:nvSpPr>
        <p:spPr>
          <a:xfrm>
            <a:off x="5191125" y="360167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5" name="Shape 63"/>
          <p:cNvSpPr/>
          <p:nvPr/>
        </p:nvSpPr>
        <p:spPr>
          <a:xfrm>
            <a:off x="5191125" y="3601679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66" name="Shape 64"/>
          <p:cNvSpPr/>
          <p:nvPr/>
        </p:nvSpPr>
        <p:spPr>
          <a:xfrm>
            <a:off x="9039225" y="3601679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7" name="Shape 65"/>
          <p:cNvSpPr/>
          <p:nvPr/>
        </p:nvSpPr>
        <p:spPr>
          <a:xfrm>
            <a:off x="8276258" y="3506429"/>
            <a:ext cx="648667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8381033" y="3535004"/>
            <a:ext cx="5153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5410200" y="3844567"/>
            <a:ext cx="16728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공공데이터포털 접속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5133261" y="4401779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71" name="Shape 69"/>
          <p:cNvSpPr/>
          <p:nvPr/>
        </p:nvSpPr>
        <p:spPr>
          <a:xfrm>
            <a:off x="5191125" y="4620854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5191125" y="535427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3" name="Shape 71"/>
          <p:cNvSpPr/>
          <p:nvPr/>
        </p:nvSpPr>
        <p:spPr>
          <a:xfrm>
            <a:off x="5191125" y="462085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4" name="Shape 72"/>
          <p:cNvSpPr/>
          <p:nvPr/>
        </p:nvSpPr>
        <p:spPr>
          <a:xfrm>
            <a:off x="5191125" y="4620854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75" name="Shape 73"/>
          <p:cNvSpPr/>
          <p:nvPr/>
        </p:nvSpPr>
        <p:spPr>
          <a:xfrm>
            <a:off x="9039225" y="4620854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6" name="Shape 74"/>
          <p:cNvSpPr/>
          <p:nvPr/>
        </p:nvSpPr>
        <p:spPr>
          <a:xfrm>
            <a:off x="8276258" y="4525604"/>
            <a:ext cx="648667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8381033" y="4554179"/>
            <a:ext cx="5153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</a:t>
            </a:r>
            <a:endParaRPr lang="en-US" sz="975" dirty="0"/>
          </a:p>
        </p:txBody>
      </p:sp>
      <p:sp>
        <p:nvSpPr>
          <p:cNvPr id="78" name="Text 76"/>
          <p:cNvSpPr/>
          <p:nvPr/>
        </p:nvSpPr>
        <p:spPr>
          <a:xfrm>
            <a:off x="5410200" y="4863742"/>
            <a:ext cx="27969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 대장 육안 확인 및 다운로드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5133261" y="5420954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80" name="Shape 78"/>
          <p:cNvSpPr/>
          <p:nvPr/>
        </p:nvSpPr>
        <p:spPr>
          <a:xfrm>
            <a:off x="5191125" y="5640029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5191125" y="637345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2" name="Shape 80"/>
          <p:cNvSpPr/>
          <p:nvPr/>
        </p:nvSpPr>
        <p:spPr>
          <a:xfrm>
            <a:off x="5191125" y="564002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3" name="Shape 81"/>
          <p:cNvSpPr/>
          <p:nvPr/>
        </p:nvSpPr>
        <p:spPr>
          <a:xfrm>
            <a:off x="5191125" y="5640029"/>
            <a:ext cx="47625" cy="742950"/>
          </a:xfrm>
          <a:prstGeom prst="rect">
            <a:avLst/>
          </a:prstGeom>
          <a:solidFill>
            <a:srgbClr val="C2CADA"/>
          </a:solidFill>
          <a:ln/>
        </p:spPr>
      </p:sp>
      <p:sp>
        <p:nvSpPr>
          <p:cNvPr id="84" name="Shape 82"/>
          <p:cNvSpPr/>
          <p:nvPr/>
        </p:nvSpPr>
        <p:spPr>
          <a:xfrm>
            <a:off x="9039225" y="5640029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5" name="Shape 83"/>
          <p:cNvSpPr/>
          <p:nvPr/>
        </p:nvSpPr>
        <p:spPr>
          <a:xfrm>
            <a:off x="8276258" y="5544779"/>
            <a:ext cx="648667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8381033" y="5573354"/>
            <a:ext cx="5153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</a:t>
            </a:r>
            <a:endParaRPr lang="en-US" sz="975" dirty="0"/>
          </a:p>
        </p:txBody>
      </p:sp>
      <p:sp>
        <p:nvSpPr>
          <p:cNvPr id="87" name="Text 85"/>
          <p:cNvSpPr/>
          <p:nvPr/>
        </p:nvSpPr>
        <p:spPr>
          <a:xfrm>
            <a:off x="5410200" y="5882916"/>
            <a:ext cx="3089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홍수지도 육안 확인 및 수기 기입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5133261" y="6440129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89" name="Shape 87"/>
          <p:cNvSpPr/>
          <p:nvPr/>
        </p:nvSpPr>
        <p:spPr>
          <a:xfrm>
            <a:off x="5191125" y="6659204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D2EDE3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71450" dist="57150" dir="5400000">
              <a:srgbClr val="0A7C5A">
                <a:alpha val="2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191125" y="739262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1" name="Shape 89"/>
          <p:cNvSpPr/>
          <p:nvPr/>
        </p:nvSpPr>
        <p:spPr>
          <a:xfrm>
            <a:off x="5191125" y="665920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2" name="Shape 90"/>
          <p:cNvSpPr/>
          <p:nvPr/>
        </p:nvSpPr>
        <p:spPr>
          <a:xfrm>
            <a:off x="5191125" y="6659204"/>
            <a:ext cx="47625" cy="742950"/>
          </a:xfrm>
          <a:prstGeom prst="rect">
            <a:avLst/>
          </a:prstGeom>
          <a:solidFill>
            <a:srgbClr val="0A7C5A"/>
          </a:solidFill>
          <a:ln/>
        </p:spPr>
      </p:sp>
      <p:sp>
        <p:nvSpPr>
          <p:cNvPr id="93" name="Shape 91"/>
          <p:cNvSpPr/>
          <p:nvPr/>
        </p:nvSpPr>
        <p:spPr>
          <a:xfrm>
            <a:off x="9039225" y="6659204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4" name="Shape 92"/>
          <p:cNvSpPr/>
          <p:nvPr/>
        </p:nvSpPr>
        <p:spPr>
          <a:xfrm>
            <a:off x="8479036" y="6563954"/>
            <a:ext cx="445889" cy="204788"/>
          </a:xfrm>
          <a:prstGeom prst="roundRect">
            <a:avLst>
              <a:gd name="adj" fmla="val 50000"/>
            </a:avLst>
          </a:prstGeom>
          <a:solidFill>
            <a:srgbClr val="0A7C5A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8583811" y="6592529"/>
            <a:ext cx="312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75" dirty="0"/>
          </a:p>
        </p:txBody>
      </p:sp>
      <p:sp>
        <p:nvSpPr>
          <p:cNvPr id="96" name="Text 94"/>
          <p:cNvSpPr/>
          <p:nvPr/>
        </p:nvSpPr>
        <p:spPr>
          <a:xfrm>
            <a:off x="5410200" y="6902091"/>
            <a:ext cx="24377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정제 및 취합 양식 제작</a:t>
            </a:r>
            <a:endParaRPr lang="en-US" sz="1500" dirty="0"/>
          </a:p>
        </p:txBody>
      </p:sp>
      <p:sp>
        <p:nvSpPr>
          <p:cNvPr id="97" name="Shape 95"/>
          <p:cNvSpPr/>
          <p:nvPr/>
        </p:nvSpPr>
        <p:spPr>
          <a:xfrm>
            <a:off x="9239250" y="2934929"/>
            <a:ext cx="3857625" cy="51435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98" name="Shape 96"/>
          <p:cNvSpPr/>
          <p:nvPr/>
        </p:nvSpPr>
        <p:spPr>
          <a:xfrm>
            <a:off x="10090845" y="3058754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10052745" y="305875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10452795" y="3065898"/>
            <a:ext cx="186868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화재·사고 트렌드 포착</a:t>
            </a:r>
            <a:endParaRPr lang="en-US" sz="1650" dirty="0"/>
          </a:p>
        </p:txBody>
      </p:sp>
      <p:sp>
        <p:nvSpPr>
          <p:cNvPr id="101" name="Shape 99"/>
          <p:cNvSpPr/>
          <p:nvPr/>
        </p:nvSpPr>
        <p:spPr>
          <a:xfrm>
            <a:off x="9239250" y="3601679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239250" y="433510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239250" y="360167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239250" y="3601679"/>
            <a:ext cx="47625" cy="742950"/>
          </a:xfrm>
          <a:prstGeom prst="rect">
            <a:avLst/>
          </a:prstGeom>
          <a:solidFill>
            <a:srgbClr val="6F7BA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3087350" y="3601679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2446719" y="3506429"/>
            <a:ext cx="526331" cy="209550"/>
          </a:xfrm>
          <a:prstGeom prst="roundRect">
            <a:avLst>
              <a:gd name="adj" fmla="val 50000"/>
            </a:avLst>
          </a:prstGeom>
          <a:solidFill>
            <a:srgbClr val="6F7BA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12551494" y="3535004"/>
            <a:ext cx="3929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크롤링</a:t>
            </a:r>
            <a:endParaRPr lang="en-US" sz="975" dirty="0"/>
          </a:p>
        </p:txBody>
      </p:sp>
      <p:sp>
        <p:nvSpPr>
          <p:cNvPr id="108" name="Text 106"/>
          <p:cNvSpPr/>
          <p:nvPr/>
        </p:nvSpPr>
        <p:spPr>
          <a:xfrm>
            <a:off x="9458325" y="3844567"/>
            <a:ext cx="22697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검색포털 접속 · 키워드 검색</a:t>
            </a:r>
            <a:endParaRPr lang="en-US" sz="1500" dirty="0"/>
          </a:p>
        </p:txBody>
      </p:sp>
      <p:sp>
        <p:nvSpPr>
          <p:cNvPr id="109" name="Text 107"/>
          <p:cNvSpPr/>
          <p:nvPr/>
        </p:nvSpPr>
        <p:spPr>
          <a:xfrm>
            <a:off x="9181386" y="4401779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10" name="Shape 108"/>
          <p:cNvSpPr/>
          <p:nvPr/>
        </p:nvSpPr>
        <p:spPr>
          <a:xfrm>
            <a:off x="9239250" y="4620854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D2EDE3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71450" dist="57150" dir="5400000">
              <a:srgbClr val="0A7C5A">
                <a:alpha val="2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9239250" y="535427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239250" y="462085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239250" y="4620854"/>
            <a:ext cx="47625" cy="742950"/>
          </a:xfrm>
          <a:prstGeom prst="rect">
            <a:avLst/>
          </a:prstGeom>
          <a:solidFill>
            <a:srgbClr val="0A7C5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3087350" y="4620854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2527161" y="4525604"/>
            <a:ext cx="445889" cy="204788"/>
          </a:xfrm>
          <a:prstGeom prst="roundRect">
            <a:avLst>
              <a:gd name="adj" fmla="val 50000"/>
            </a:avLst>
          </a:prstGeom>
          <a:solidFill>
            <a:srgbClr val="0A7C5A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12631936" y="4554179"/>
            <a:ext cx="312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75" dirty="0"/>
          </a:p>
        </p:txBody>
      </p:sp>
      <p:sp>
        <p:nvSpPr>
          <p:cNvPr id="117" name="Text 115"/>
          <p:cNvSpPr/>
          <p:nvPr/>
        </p:nvSpPr>
        <p:spPr>
          <a:xfrm>
            <a:off x="9458325" y="4863742"/>
            <a:ext cx="1606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 기사 육안 확인</a:t>
            </a:r>
            <a:endParaRPr lang="en-US" sz="1500" dirty="0"/>
          </a:p>
        </p:txBody>
      </p:sp>
      <p:sp>
        <p:nvSpPr>
          <p:cNvPr id="118" name="Text 116"/>
          <p:cNvSpPr/>
          <p:nvPr/>
        </p:nvSpPr>
        <p:spPr>
          <a:xfrm>
            <a:off x="9181386" y="5420954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19" name="Shape 117"/>
          <p:cNvSpPr/>
          <p:nvPr/>
        </p:nvSpPr>
        <p:spPr>
          <a:xfrm>
            <a:off x="9239250" y="5640029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D2EDE3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71450" dist="57150" dir="5400000">
              <a:srgbClr val="0A7C5A">
                <a:alpha val="20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9239250" y="637345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239250" y="564002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9239250" y="5640029"/>
            <a:ext cx="47625" cy="742950"/>
          </a:xfrm>
          <a:prstGeom prst="rect">
            <a:avLst/>
          </a:prstGeom>
          <a:solidFill>
            <a:srgbClr val="0A7C5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3087350" y="5640029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2527161" y="5544779"/>
            <a:ext cx="445889" cy="204788"/>
          </a:xfrm>
          <a:prstGeom prst="roundRect">
            <a:avLst>
              <a:gd name="adj" fmla="val 50000"/>
            </a:avLst>
          </a:prstGeom>
          <a:solidFill>
            <a:srgbClr val="0A7C5A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12631936" y="5573354"/>
            <a:ext cx="312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75" dirty="0"/>
          </a:p>
        </p:txBody>
      </p:sp>
      <p:sp>
        <p:nvSpPr>
          <p:cNvPr id="126" name="Text 124"/>
          <p:cNvSpPr/>
          <p:nvPr/>
        </p:nvSpPr>
        <p:spPr>
          <a:xfrm>
            <a:off x="9458325" y="5882916"/>
            <a:ext cx="21451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주관적 위험도 판단</a:t>
            </a:r>
            <a:endParaRPr lang="en-US" sz="1500" dirty="0"/>
          </a:p>
        </p:txBody>
      </p:sp>
      <p:sp>
        <p:nvSpPr>
          <p:cNvPr id="127" name="Text 125"/>
          <p:cNvSpPr/>
          <p:nvPr/>
        </p:nvSpPr>
        <p:spPr>
          <a:xfrm>
            <a:off x="9181386" y="6440129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28" name="Shape 126"/>
          <p:cNvSpPr/>
          <p:nvPr/>
        </p:nvSpPr>
        <p:spPr>
          <a:xfrm>
            <a:off x="9239250" y="6659204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D2EDE3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71450" dist="57150" dir="5400000">
              <a:srgbClr val="0A7C5A">
                <a:alpha val="2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9239250" y="739262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239250" y="665920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239250" y="6659204"/>
            <a:ext cx="47625" cy="742950"/>
          </a:xfrm>
          <a:prstGeom prst="rect">
            <a:avLst/>
          </a:prstGeom>
          <a:solidFill>
            <a:srgbClr val="0A7C5A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3087350" y="6659204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2527161" y="6563954"/>
            <a:ext cx="445889" cy="204788"/>
          </a:xfrm>
          <a:prstGeom prst="roundRect">
            <a:avLst>
              <a:gd name="adj" fmla="val 50000"/>
            </a:avLst>
          </a:prstGeom>
          <a:solidFill>
            <a:srgbClr val="0A7C5A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34" name="Text 132"/>
          <p:cNvSpPr/>
          <p:nvPr/>
        </p:nvSpPr>
        <p:spPr>
          <a:xfrm>
            <a:off x="12631936" y="6592529"/>
            <a:ext cx="312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75" dirty="0"/>
          </a:p>
        </p:txBody>
      </p:sp>
      <p:sp>
        <p:nvSpPr>
          <p:cNvPr id="135" name="Text 133"/>
          <p:cNvSpPr/>
          <p:nvPr/>
        </p:nvSpPr>
        <p:spPr>
          <a:xfrm>
            <a:off x="9458325" y="6902091"/>
            <a:ext cx="22016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정제 및 컨텐츠 제작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13287375" y="2934929"/>
            <a:ext cx="3857625" cy="514350"/>
          </a:xfrm>
          <a:prstGeom prst="roundRect">
            <a:avLst>
              <a:gd name="adj" fmla="val 50000"/>
            </a:avLst>
          </a:prstGeom>
          <a:solidFill>
            <a:srgbClr val="131A3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4351943" y="3058754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8" name="Text 136"/>
          <p:cNvSpPr/>
          <p:nvPr/>
        </p:nvSpPr>
        <p:spPr>
          <a:xfrm>
            <a:off x="14313843" y="305875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14713893" y="3065898"/>
            <a:ext cx="144266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결과 자산화</a:t>
            </a:r>
            <a:endParaRPr lang="en-US" sz="1650" dirty="0"/>
          </a:p>
        </p:txBody>
      </p:sp>
      <p:sp>
        <p:nvSpPr>
          <p:cNvPr id="140" name="Shape 138"/>
          <p:cNvSpPr/>
          <p:nvPr/>
        </p:nvSpPr>
        <p:spPr>
          <a:xfrm>
            <a:off x="13287375" y="3601679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FFF6E0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141" name="Shape 139"/>
          <p:cNvSpPr/>
          <p:nvPr/>
        </p:nvSpPr>
        <p:spPr>
          <a:xfrm>
            <a:off x="13287375" y="433510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3287375" y="360167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3287375" y="3601679"/>
            <a:ext cx="47625" cy="74295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7135475" y="3601679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6494844" y="3506429"/>
            <a:ext cx="526331" cy="209550"/>
          </a:xfrm>
          <a:prstGeom prst="roundRect">
            <a:avLst>
              <a:gd name="adj" fmla="val 50000"/>
            </a:avLst>
          </a:prstGeom>
          <a:solidFill>
            <a:srgbClr val="D9920C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46" name="Text 144"/>
          <p:cNvSpPr/>
          <p:nvPr/>
        </p:nvSpPr>
        <p:spPr>
          <a:xfrm>
            <a:off x="16599619" y="3535004"/>
            <a:ext cx="3929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</a:t>
            </a:r>
            <a:endParaRPr lang="en-US" sz="975" dirty="0"/>
          </a:p>
        </p:txBody>
      </p:sp>
      <p:sp>
        <p:nvSpPr>
          <p:cNvPr id="147" name="Text 145"/>
          <p:cNvSpPr/>
          <p:nvPr/>
        </p:nvSpPr>
        <p:spPr>
          <a:xfrm>
            <a:off x="13506450" y="3844567"/>
            <a:ext cx="9439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인터뷰</a:t>
            </a:r>
            <a:endParaRPr lang="en-US" sz="1500" dirty="0"/>
          </a:p>
        </p:txBody>
      </p:sp>
      <p:sp>
        <p:nvSpPr>
          <p:cNvPr id="148" name="Text 146"/>
          <p:cNvSpPr/>
          <p:nvPr/>
        </p:nvSpPr>
        <p:spPr>
          <a:xfrm>
            <a:off x="13229511" y="4401779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49" name="Shape 147"/>
          <p:cNvSpPr/>
          <p:nvPr/>
        </p:nvSpPr>
        <p:spPr>
          <a:xfrm>
            <a:off x="13287375" y="4620854"/>
            <a:ext cx="3857625" cy="742950"/>
          </a:xfrm>
          <a:prstGeom prst="roundRect">
            <a:avLst>
              <a:gd name="adj" fmla="val 12821"/>
            </a:avLst>
          </a:prstGeom>
          <a:gradFill rotWithShape="1">
            <a:gsLst>
              <a:gs pos="0">
                <a:srgbClr val="D2EDE3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71450" dist="57150" dir="5400000">
              <a:srgbClr val="0A7C5A">
                <a:alpha val="20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13287375" y="535427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3287375" y="462085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3287375" y="4620854"/>
            <a:ext cx="47625" cy="742950"/>
          </a:xfrm>
          <a:prstGeom prst="rect">
            <a:avLst/>
          </a:prstGeom>
          <a:solidFill>
            <a:srgbClr val="0A7C5A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7135475" y="4620854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6575286" y="4525604"/>
            <a:ext cx="445889" cy="204788"/>
          </a:xfrm>
          <a:prstGeom prst="roundRect">
            <a:avLst>
              <a:gd name="adj" fmla="val 50000"/>
            </a:avLst>
          </a:prstGeom>
          <a:solidFill>
            <a:srgbClr val="0A7C5A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55" name="Text 153"/>
          <p:cNvSpPr/>
          <p:nvPr/>
        </p:nvSpPr>
        <p:spPr>
          <a:xfrm>
            <a:off x="16680061" y="4554179"/>
            <a:ext cx="312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75" dirty="0"/>
          </a:p>
        </p:txBody>
      </p:sp>
      <p:sp>
        <p:nvSpPr>
          <p:cNvPr id="156" name="Text 154"/>
          <p:cNvSpPr/>
          <p:nvPr/>
        </p:nvSpPr>
        <p:spPr>
          <a:xfrm>
            <a:off x="13506450" y="4863742"/>
            <a:ext cx="17293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사무실에서 엑셀 입력</a:t>
            </a:r>
            <a:endParaRPr lang="en-US" sz="1500" dirty="0"/>
          </a:p>
        </p:txBody>
      </p:sp>
      <p:sp>
        <p:nvSpPr>
          <p:cNvPr id="157" name="Text 155"/>
          <p:cNvSpPr/>
          <p:nvPr/>
        </p:nvSpPr>
        <p:spPr>
          <a:xfrm>
            <a:off x="13229511" y="5420954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58" name="Shape 156"/>
          <p:cNvSpPr/>
          <p:nvPr/>
        </p:nvSpPr>
        <p:spPr>
          <a:xfrm>
            <a:off x="13287375" y="5640029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EEF1F7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3287375" y="637345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3287375" y="564002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3287375" y="5640029"/>
            <a:ext cx="47625" cy="742950"/>
          </a:xfrm>
          <a:prstGeom prst="rect">
            <a:avLst/>
          </a:prstGeom>
          <a:solidFill>
            <a:srgbClr val="AEB6C9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7135475" y="5640029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6283657" y="5544779"/>
            <a:ext cx="737518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64" name="Text 162"/>
          <p:cNvSpPr/>
          <p:nvPr/>
        </p:nvSpPr>
        <p:spPr>
          <a:xfrm>
            <a:off x="16388432" y="5573354"/>
            <a:ext cx="604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대시보드화</a:t>
            </a:r>
            <a:endParaRPr lang="en-US" sz="975" dirty="0"/>
          </a:p>
        </p:txBody>
      </p:sp>
      <p:sp>
        <p:nvSpPr>
          <p:cNvPr id="165" name="Text 163"/>
          <p:cNvSpPr/>
          <p:nvPr/>
        </p:nvSpPr>
        <p:spPr>
          <a:xfrm>
            <a:off x="13506450" y="5882916"/>
            <a:ext cx="7806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 취합</a:t>
            </a:r>
            <a:endParaRPr lang="en-US" sz="1500" dirty="0"/>
          </a:p>
        </p:txBody>
      </p:sp>
      <p:sp>
        <p:nvSpPr>
          <p:cNvPr id="166" name="Text 164"/>
          <p:cNvSpPr/>
          <p:nvPr/>
        </p:nvSpPr>
        <p:spPr>
          <a:xfrm>
            <a:off x="13229511" y="6440129"/>
            <a:ext cx="397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67" name="Shape 165"/>
          <p:cNvSpPr/>
          <p:nvPr/>
        </p:nvSpPr>
        <p:spPr>
          <a:xfrm>
            <a:off x="13287375" y="6659204"/>
            <a:ext cx="3857625" cy="742950"/>
          </a:xfrm>
          <a:prstGeom prst="roundRect">
            <a:avLst>
              <a:gd name="adj" fmla="val 12821"/>
            </a:avLst>
          </a:prstGeom>
          <a:solidFill>
            <a:srgbClr val="EEF1F7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3287375" y="7392629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3287375" y="6659204"/>
            <a:ext cx="38576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3287375" y="6659204"/>
            <a:ext cx="47625" cy="742950"/>
          </a:xfrm>
          <a:prstGeom prst="rect">
            <a:avLst/>
          </a:prstGeom>
          <a:solidFill>
            <a:srgbClr val="AEB6C9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7135475" y="6659204"/>
            <a:ext cx="9525" cy="74295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6283657" y="6563954"/>
            <a:ext cx="737518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73" name="Text 171"/>
          <p:cNvSpPr/>
          <p:nvPr/>
        </p:nvSpPr>
        <p:spPr>
          <a:xfrm>
            <a:off x="16388432" y="6592529"/>
            <a:ext cx="604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대시보드화</a:t>
            </a:r>
            <a:endParaRPr lang="en-US" sz="975" dirty="0"/>
          </a:p>
        </p:txBody>
      </p:sp>
      <p:sp>
        <p:nvSpPr>
          <p:cNvPr id="174" name="Text 172"/>
          <p:cNvSpPr/>
          <p:nvPr/>
        </p:nvSpPr>
        <p:spPr>
          <a:xfrm>
            <a:off x="13506450" y="6902091"/>
            <a:ext cx="16628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사업팀 / 사업부 취합</a:t>
            </a:r>
            <a:endParaRPr lang="en-US" sz="1500" dirty="0"/>
          </a:p>
        </p:txBody>
      </p:sp>
      <p:sp>
        <p:nvSpPr>
          <p:cNvPr id="175" name="Text 173"/>
          <p:cNvSpPr/>
          <p:nvPr/>
        </p:nvSpPr>
        <p:spPr>
          <a:xfrm>
            <a:off x="902970" y="7460666"/>
            <a:ext cx="164820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spc="-12" kern="0" dirty="0">
                <a:solidFill>
                  <a:srgbClr val="DCE2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75" dirty="0"/>
          </a:p>
        </p:txBody>
      </p:sp>
      <p:sp>
        <p:nvSpPr>
          <p:cNvPr id="176" name="Shape 174"/>
          <p:cNvSpPr/>
          <p:nvPr/>
        </p:nvSpPr>
        <p:spPr>
          <a:xfrm>
            <a:off x="1143000" y="7679741"/>
            <a:ext cx="3857625" cy="533400"/>
          </a:xfrm>
          <a:prstGeom prst="roundRect">
            <a:avLst>
              <a:gd name="adj" fmla="val 17857"/>
            </a:avLst>
          </a:prstGeom>
          <a:solidFill>
            <a:srgbClr val="EEF1F7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143000" y="8203616"/>
            <a:ext cx="3857625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1143000" y="7679741"/>
            <a:ext cx="3857625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1143000" y="7679741"/>
            <a:ext cx="47625" cy="533400"/>
          </a:xfrm>
          <a:prstGeom prst="rect">
            <a:avLst/>
          </a:prstGeom>
          <a:solidFill>
            <a:srgbClr val="AEB6C9"/>
          </a:solidFill>
          <a:ln/>
        </p:spPr>
      </p:sp>
      <p:sp>
        <p:nvSpPr>
          <p:cNvPr id="180" name="Shape 178"/>
          <p:cNvSpPr/>
          <p:nvPr/>
        </p:nvSpPr>
        <p:spPr>
          <a:xfrm>
            <a:off x="4991100" y="7679741"/>
            <a:ext cx="9525" cy="533400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4139282" y="7584491"/>
            <a:ext cx="737518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82" name="Text 180"/>
          <p:cNvSpPr/>
          <p:nvPr/>
        </p:nvSpPr>
        <p:spPr>
          <a:xfrm>
            <a:off x="4205957" y="7613066"/>
            <a:ext cx="604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대시보드화</a:t>
            </a:r>
            <a:endParaRPr lang="en-US" sz="975" dirty="0"/>
          </a:p>
        </p:txBody>
      </p:sp>
      <p:sp>
        <p:nvSpPr>
          <p:cNvPr id="183" name="Text 181"/>
          <p:cNvSpPr/>
          <p:nvPr/>
        </p:nvSpPr>
        <p:spPr>
          <a:xfrm>
            <a:off x="2227659" y="7832141"/>
            <a:ext cx="18026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지사별 메일 배포 / 공유</a:t>
            </a:r>
            <a:endParaRPr lang="en-US" sz="1500" dirty="0"/>
          </a:p>
        </p:txBody>
      </p:sp>
      <p:sp>
        <p:nvSpPr>
          <p:cNvPr id="184" name="Shape 182"/>
          <p:cNvSpPr/>
          <p:nvPr/>
        </p:nvSpPr>
        <p:spPr>
          <a:xfrm>
            <a:off x="5191125" y="7679741"/>
            <a:ext cx="3857625" cy="533400"/>
          </a:xfrm>
          <a:prstGeom prst="roundRect">
            <a:avLst>
              <a:gd name="adj" fmla="val 17857"/>
            </a:avLst>
          </a:prstGeom>
          <a:solidFill>
            <a:srgbClr val="EEF1F7"/>
          </a:solidFill>
          <a:ln/>
        </p:spPr>
      </p:sp>
      <p:sp>
        <p:nvSpPr>
          <p:cNvPr id="185" name="Shape 183"/>
          <p:cNvSpPr/>
          <p:nvPr/>
        </p:nvSpPr>
        <p:spPr>
          <a:xfrm>
            <a:off x="5191125" y="8203616"/>
            <a:ext cx="3857625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86" name="Shape 184"/>
          <p:cNvSpPr/>
          <p:nvPr/>
        </p:nvSpPr>
        <p:spPr>
          <a:xfrm>
            <a:off x="5191125" y="7679741"/>
            <a:ext cx="3857625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87" name="Shape 185"/>
          <p:cNvSpPr/>
          <p:nvPr/>
        </p:nvSpPr>
        <p:spPr>
          <a:xfrm>
            <a:off x="5191125" y="7679741"/>
            <a:ext cx="47625" cy="533400"/>
          </a:xfrm>
          <a:prstGeom prst="rect">
            <a:avLst/>
          </a:prstGeom>
          <a:solidFill>
            <a:srgbClr val="AEB6C9"/>
          </a:solidFill>
          <a:ln/>
        </p:spPr>
      </p:sp>
      <p:sp>
        <p:nvSpPr>
          <p:cNvPr id="188" name="Shape 186"/>
          <p:cNvSpPr/>
          <p:nvPr/>
        </p:nvSpPr>
        <p:spPr>
          <a:xfrm>
            <a:off x="9039225" y="7679741"/>
            <a:ext cx="9525" cy="533400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89" name="Shape 187"/>
          <p:cNvSpPr/>
          <p:nvPr/>
        </p:nvSpPr>
        <p:spPr>
          <a:xfrm>
            <a:off x="8187407" y="7584491"/>
            <a:ext cx="737518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8254082" y="7613066"/>
            <a:ext cx="604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대시보드화</a:t>
            </a:r>
            <a:endParaRPr lang="en-US" sz="975" dirty="0"/>
          </a:p>
        </p:txBody>
      </p:sp>
      <p:sp>
        <p:nvSpPr>
          <p:cNvPr id="191" name="Text 189"/>
          <p:cNvSpPr/>
          <p:nvPr/>
        </p:nvSpPr>
        <p:spPr>
          <a:xfrm>
            <a:off x="6275784" y="7832141"/>
            <a:ext cx="18026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지사별 메일 배포 / 공유</a:t>
            </a:r>
            <a:endParaRPr lang="en-US" sz="1500" dirty="0"/>
          </a:p>
        </p:txBody>
      </p:sp>
      <p:sp>
        <p:nvSpPr>
          <p:cNvPr id="192" name="Shape 190"/>
          <p:cNvSpPr/>
          <p:nvPr/>
        </p:nvSpPr>
        <p:spPr>
          <a:xfrm>
            <a:off x="9239250" y="7679741"/>
            <a:ext cx="3857625" cy="533400"/>
          </a:xfrm>
          <a:prstGeom prst="roundRect">
            <a:avLst>
              <a:gd name="adj" fmla="val 17857"/>
            </a:avLst>
          </a:prstGeom>
          <a:solidFill>
            <a:srgbClr val="EEF1F7"/>
          </a:solidFill>
          <a:ln/>
        </p:spPr>
      </p:sp>
      <p:sp>
        <p:nvSpPr>
          <p:cNvPr id="193" name="Shape 191"/>
          <p:cNvSpPr/>
          <p:nvPr/>
        </p:nvSpPr>
        <p:spPr>
          <a:xfrm>
            <a:off x="9239250" y="8203616"/>
            <a:ext cx="3857625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94" name="Shape 192"/>
          <p:cNvSpPr/>
          <p:nvPr/>
        </p:nvSpPr>
        <p:spPr>
          <a:xfrm>
            <a:off x="9239250" y="7679741"/>
            <a:ext cx="3857625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239250" y="7679741"/>
            <a:ext cx="47625" cy="533400"/>
          </a:xfrm>
          <a:prstGeom prst="rect">
            <a:avLst/>
          </a:prstGeom>
          <a:solidFill>
            <a:srgbClr val="AEB6C9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3087350" y="7679741"/>
            <a:ext cx="9525" cy="533400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2235532" y="7584491"/>
            <a:ext cx="737518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12302207" y="7613066"/>
            <a:ext cx="604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대시보드화</a:t>
            </a:r>
            <a:endParaRPr lang="en-US" sz="975" dirty="0"/>
          </a:p>
        </p:txBody>
      </p:sp>
      <p:sp>
        <p:nvSpPr>
          <p:cNvPr id="199" name="Text 197"/>
          <p:cNvSpPr/>
          <p:nvPr/>
        </p:nvSpPr>
        <p:spPr>
          <a:xfrm>
            <a:off x="10323909" y="7832141"/>
            <a:ext cx="18026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지사별 메일 배포 / 공유</a:t>
            </a:r>
            <a:endParaRPr lang="en-US" sz="1500" dirty="0"/>
          </a:p>
        </p:txBody>
      </p:sp>
      <p:sp>
        <p:nvSpPr>
          <p:cNvPr id="200" name="Shape 198"/>
          <p:cNvSpPr/>
          <p:nvPr/>
        </p:nvSpPr>
        <p:spPr>
          <a:xfrm>
            <a:off x="13287375" y="7679741"/>
            <a:ext cx="3857625" cy="533400"/>
          </a:xfrm>
          <a:prstGeom prst="roundRect">
            <a:avLst>
              <a:gd name="adj" fmla="val 17857"/>
            </a:avLst>
          </a:prstGeom>
          <a:solidFill>
            <a:srgbClr val="EEF1F7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3287375" y="8203616"/>
            <a:ext cx="3857625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3287375" y="7679741"/>
            <a:ext cx="3857625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3287375" y="7679741"/>
            <a:ext cx="47625" cy="533400"/>
          </a:xfrm>
          <a:prstGeom prst="rect">
            <a:avLst/>
          </a:prstGeom>
          <a:solidFill>
            <a:srgbClr val="AEB6C9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7135475" y="7679741"/>
            <a:ext cx="9525" cy="533400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6283657" y="7584491"/>
            <a:ext cx="737518" cy="209550"/>
          </a:xfrm>
          <a:prstGeom prst="roundRect">
            <a:avLst>
              <a:gd name="adj" fmla="val 50000"/>
            </a:avLst>
          </a:prstGeom>
          <a:solidFill>
            <a:srgbClr val="99A2B8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06" name="Text 204"/>
          <p:cNvSpPr/>
          <p:nvPr/>
        </p:nvSpPr>
        <p:spPr>
          <a:xfrm>
            <a:off x="16350332" y="7613066"/>
            <a:ext cx="604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대시보드화</a:t>
            </a:r>
            <a:endParaRPr lang="en-US" sz="975" dirty="0"/>
          </a:p>
        </p:txBody>
      </p:sp>
      <p:sp>
        <p:nvSpPr>
          <p:cNvPr id="207" name="Text 205"/>
          <p:cNvSpPr/>
          <p:nvPr/>
        </p:nvSpPr>
        <p:spPr>
          <a:xfrm>
            <a:off x="14372034" y="7832141"/>
            <a:ext cx="18026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지사별 메일 배포 / 공유</a:t>
            </a:r>
            <a:endParaRPr lang="en-US" sz="1500" dirty="0"/>
          </a:p>
        </p:txBody>
      </p:sp>
      <p:sp>
        <p:nvSpPr>
          <p:cNvPr id="208" name="Text 206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209" name="Text 207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70707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처리 방식 · 영역별 자동화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영역의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처리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정교하게 자동화합니다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587267"/>
            <a:ext cx="3048000" cy="1266825"/>
          </a:xfrm>
          <a:prstGeom prst="roundRect">
            <a:avLst>
              <a:gd name="adj" fmla="val 18045"/>
            </a:avLst>
          </a:prstGeom>
          <a:solidFill>
            <a:srgbClr val="131A33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2930167"/>
            <a:ext cx="25146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업셀링 가능 알람 고객 수집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457700" y="2587267"/>
            <a:ext cx="12687300" cy="1266825"/>
          </a:xfrm>
          <a:prstGeom prst="roundRect">
            <a:avLst>
              <a:gd name="adj" fmla="val 18045"/>
            </a:avLst>
          </a:prstGeom>
          <a:gradFill rotWithShape="1">
            <a:gsLst>
              <a:gs pos="0">
                <a:srgbClr val="DEF7EE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 w="14288">
            <a:solidFill>
              <a:srgbClr val="BFE9D6"/>
            </a:solidFill>
            <a:prstDash val="solid"/>
          </a:ln>
          <a:effectLst>
            <a:outerShdw sx="100000" sy="100000" kx="0" ky="0" algn="bl" rotWithShape="0" blurRad="228600" dist="76200" dir="5400000">
              <a:srgbClr val="10B98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95838" y="2830154"/>
            <a:ext cx="1220006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0B7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추출·분류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4795838" y="3296879"/>
            <a:ext cx="122000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긴급연락처 내 경비원 등록, 루프정보 내 서버실·서고 등 중요실 등록 정보 자동 탐지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6153507" y="3042086"/>
            <a:ext cx="653355" cy="35718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6324957" y="3127811"/>
            <a:ext cx="386655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43000" y="4063642"/>
            <a:ext cx="3048000" cy="1266825"/>
          </a:xfrm>
          <a:prstGeom prst="roundRect">
            <a:avLst>
              <a:gd name="adj" fmla="val 18045"/>
            </a:avLst>
          </a:prstGeom>
          <a:solidFill>
            <a:srgbClr val="13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4573229"/>
            <a:ext cx="2682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데이터 수집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457700" y="4063642"/>
            <a:ext cx="12687300" cy="1266825"/>
          </a:xfrm>
          <a:prstGeom prst="roundRect">
            <a:avLst>
              <a:gd name="adj" fmla="val 18045"/>
            </a:avLst>
          </a:prstGeom>
          <a:gradFill rotWithShape="1">
            <a:gsLst>
              <a:gs pos="0">
                <a:srgbClr val="DEF7EE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 w="14288">
            <a:solidFill>
              <a:srgbClr val="BFE9D6"/>
            </a:solidFill>
            <a:prstDash val="solid"/>
          </a:ln>
          <a:effectLst>
            <a:outerShdw sx="100000" sy="100000" kx="0" ky="0" algn="bl" rotWithShape="0" blurRad="228600" dist="76200" dir="5400000">
              <a:srgbClr val="10B981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95838" y="4306529"/>
            <a:ext cx="109921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0B7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100점 만점 스코어링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4795838" y="4773254"/>
            <a:ext cx="10992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 1,204건을 LLM으로 분석해 스코어링 기준을 도출하고, 그 규칙을 건축물 관리대장에 적용해 도입 가능성 점수화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055379" y="4513698"/>
            <a:ext cx="1751484" cy="36671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5226829" y="4599423"/>
            <a:ext cx="1484784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분석 + 규칙 적용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143000" y="5540016"/>
            <a:ext cx="3048000" cy="1266825"/>
          </a:xfrm>
          <a:prstGeom prst="roundRect">
            <a:avLst>
              <a:gd name="adj" fmla="val 18045"/>
            </a:avLst>
          </a:prstGeom>
          <a:solidFill>
            <a:srgbClr val="131A33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6049604"/>
            <a:ext cx="2682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화재·사고 트렌드 포착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4457700" y="5540016"/>
            <a:ext cx="12687300" cy="1266825"/>
          </a:xfrm>
          <a:prstGeom prst="roundRect">
            <a:avLst>
              <a:gd name="adj" fmla="val 18045"/>
            </a:avLst>
          </a:prstGeom>
          <a:gradFill rotWithShape="1">
            <a:gsLst>
              <a:gs pos="0">
                <a:srgbClr val="DEF7EE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 w="14288">
            <a:solidFill>
              <a:srgbClr val="BFE9D6"/>
            </a:solidFill>
            <a:prstDash val="solid"/>
          </a:ln>
          <a:effectLst>
            <a:outerShdw sx="100000" sy="100000" kx="0" ky="0" algn="bl" rotWithShape="0" blurRad="228600" dist="76200" dir="5400000">
              <a:srgbClr val="10B981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95838" y="5782904"/>
            <a:ext cx="115448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0B7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수집·요약·매칭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4795838" y="6249629"/>
            <a:ext cx="115448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 1회 스케줄러 기반 크롤링 후, LLM이 가이드라인(화재·정전·누수 3대 리스크)에 따라 문맥 분석·핵심 요약 자동 수행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557897" y="5990073"/>
            <a:ext cx="1248966" cy="36671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5729347" y="6075798"/>
            <a:ext cx="982266" cy="2333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크롤링 + LLM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143000" y="7016391"/>
            <a:ext cx="3048000" cy="1581150"/>
          </a:xfrm>
          <a:prstGeom prst="roundRect">
            <a:avLst>
              <a:gd name="adj" fmla="val 14458"/>
            </a:avLst>
          </a:prstGeom>
          <a:solidFill>
            <a:srgbClr val="131A33"/>
          </a:solidFill>
          <a:ln/>
        </p:spPr>
      </p:sp>
      <p:sp>
        <p:nvSpPr>
          <p:cNvPr id="27" name="Text 25"/>
          <p:cNvSpPr/>
          <p:nvPr/>
        </p:nvSpPr>
        <p:spPr>
          <a:xfrm>
            <a:off x="1447800" y="7683141"/>
            <a:ext cx="2682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결과 자산화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457700" y="7016391"/>
            <a:ext cx="12687300" cy="1581150"/>
          </a:xfrm>
          <a:prstGeom prst="roundRect">
            <a:avLst>
              <a:gd name="adj" fmla="val 14458"/>
            </a:avLst>
          </a:prstGeom>
          <a:gradFill rotWithShape="1">
            <a:gsLst>
              <a:gs pos="0">
                <a:srgbClr val="DEF7EE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 w="14288">
            <a:solidFill>
              <a:srgbClr val="BFE9D6"/>
            </a:solidFill>
            <a:prstDash val="solid"/>
          </a:ln>
          <a:effectLst>
            <a:outerShdw sx="100000" sy="100000" kx="0" ky="0" algn="bl" rotWithShape="0" blurRad="228600" dist="76200" dir="5400000">
              <a:srgbClr val="10B981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95838" y="7259279"/>
            <a:ext cx="110950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0B7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받아쓰기·요약·정리</a:t>
            </a:r>
            <a:endParaRPr lang="en-US" sz="2325" dirty="0"/>
          </a:p>
        </p:txBody>
      </p:sp>
      <p:sp>
        <p:nvSpPr>
          <p:cNvPr id="30" name="Text 28"/>
          <p:cNvSpPr/>
          <p:nvPr/>
        </p:nvSpPr>
        <p:spPr>
          <a:xfrm>
            <a:off x="4795838" y="7726004"/>
            <a:ext cx="1038897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비정형 음성 데이터(STT 변환 텍스트)의 문맥을 파악하고, 논리적으로 추론(Reasoning)하여 최적의 요약본과 대응 방향을 생성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148917" y="7628373"/>
            <a:ext cx="1657945" cy="35718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15320367" y="7714098"/>
            <a:ext cx="1391245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+ LLM + RAG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66691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시연 ·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802069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화면으로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보겠습니다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415817"/>
            <a:ext cx="16002000" cy="6734175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571500" dist="228600" dir="5400000">
              <a:srgbClr val="131A33">
                <a:alpha val="1397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525" y="2425342"/>
            <a:ext cx="15982950" cy="733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3149242"/>
            <a:ext cx="159829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" name="Shape 6"/>
          <p:cNvSpPr/>
          <p:nvPr/>
        </p:nvSpPr>
        <p:spPr>
          <a:xfrm>
            <a:off x="1362075" y="2720617"/>
            <a:ext cx="133350" cy="133350"/>
          </a:xfrm>
          <a:prstGeom prst="ellipse">
            <a:avLst/>
          </a:prstGeom>
          <a:solidFill>
            <a:srgbClr val="FF6058"/>
          </a:solidFill>
          <a:ln/>
        </p:spPr>
      </p:sp>
      <p:sp>
        <p:nvSpPr>
          <p:cNvPr id="9" name="Shape 7"/>
          <p:cNvSpPr/>
          <p:nvPr/>
        </p:nvSpPr>
        <p:spPr>
          <a:xfrm>
            <a:off x="1581150" y="2720617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800225" y="2720617"/>
            <a:ext cx="133350" cy="133350"/>
          </a:xfrm>
          <a:prstGeom prst="ellipse">
            <a:avLst/>
          </a:prstGeom>
          <a:solidFill>
            <a:srgbClr val="2ACA44"/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2577742"/>
            <a:ext cx="14839950" cy="4191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95525" y="2711092"/>
            <a:ext cx="152400" cy="152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43175" y="2682517"/>
            <a:ext cx="3182209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bluescan.agent / 강남구 · 신규 후보 · 업셀링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52525" y="3158767"/>
            <a:ext cx="15982950" cy="5981700"/>
          </a:xfrm>
          <a:prstGeom prst="rect">
            <a:avLst/>
          </a:prstGeom>
          <a:gradFill rotWithShape="1">
            <a:gsLst>
              <a:gs pos="0">
                <a:srgbClr val="EEF2FB">
                  <a:alpha val="100000"/>
                </a:srgbClr>
              </a:gs>
              <a:gs pos="100000">
                <a:srgbClr val="E3E9F6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15" name="Shape 12"/>
          <p:cNvSpPr/>
          <p:nvPr/>
        </p:nvSpPr>
        <p:spPr>
          <a:xfrm>
            <a:off x="1152525" y="3158767"/>
            <a:ext cx="15982950" cy="5981700"/>
          </a:xfrm>
          <a:prstGeom prst="rect">
            <a:avLst/>
          </a:prstGeom>
          <a:solidFill>
            <a:srgbClr val="131A33">
              <a:alpha val="4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858199" y="5775761"/>
            <a:ext cx="2571601" cy="747713"/>
          </a:xfrm>
          <a:prstGeom prst="roundRect">
            <a:avLst>
              <a:gd name="adj" fmla="val 50000"/>
            </a:avLst>
          </a:prstGeom>
          <a:solidFill>
            <a:srgbClr val="3556FF"/>
          </a:solidFill>
          <a:ln/>
          <a:effectLst>
            <a:outerShdw sx="100000" sy="100000" kx="0" ky="0" algn="bl" rotWithShape="0" blurRad="381000" dist="152400" dir="5400000">
              <a:srgbClr val="131A33">
                <a:alpha val="3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0149" y="5990074"/>
            <a:ext cx="152385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데모영상 재생</a:t>
            </a:r>
            <a:endParaRPr lang="en-US" sz="2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1151" y="6016268"/>
            <a:ext cx="266700" cy="2667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53915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· Key Features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고객 데이터로,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업셀링 대상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자동 선별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510730"/>
            <a:ext cx="9623375" cy="5243364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571500" dist="228600" dir="5400000">
              <a:srgbClr val="13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525" y="2520255"/>
            <a:ext cx="9604325" cy="476250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2986980"/>
            <a:ext cx="96043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" name="Shape 6"/>
          <p:cNvSpPr/>
          <p:nvPr/>
        </p:nvSpPr>
        <p:spPr>
          <a:xfrm>
            <a:off x="136207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178117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1" name="Shape 9"/>
          <p:cNvSpPr/>
          <p:nvPr/>
        </p:nvSpPr>
        <p:spPr>
          <a:xfrm>
            <a:off x="8619679" y="7230219"/>
            <a:ext cx="1984772" cy="361950"/>
          </a:xfrm>
          <a:prstGeom prst="roundRect">
            <a:avLst>
              <a:gd name="adj" fmla="val 50000"/>
            </a:avLst>
          </a:prstGeom>
          <a:solidFill>
            <a:srgbClr val="131A33">
              <a:alpha val="82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079" y="7315944"/>
            <a:ext cx="190500" cy="190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038779" y="7311182"/>
            <a:ext cx="1489472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마우스를 올리면 확대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204525" y="3051200"/>
            <a:ext cx="2552105" cy="414338"/>
          </a:xfrm>
          <a:prstGeom prst="roundRect">
            <a:avLst>
              <a:gd name="adj" fmla="val 50000"/>
            </a:avLst>
          </a:prstGeom>
          <a:solidFill>
            <a:srgbClr val="ECE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1375975" y="3144069"/>
            <a:ext cx="7528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01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2157397" y="3136925"/>
            <a:ext cx="1503983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기존 고객 업셀링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1204525" y="3713187"/>
            <a:ext cx="61186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내부데이터 기반으로 업셀링 가능성이 높은 기존 고객처를 분류해 우선순위로 제시합니다.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1204525" y="4779987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8825" y="4894287"/>
            <a:ext cx="247650" cy="2476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52225" y="4779987"/>
            <a:ext cx="582205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 경비원 · B-2 중요실 분류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11852225" y="5108600"/>
            <a:ext cx="545155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인력경비(상주·순찰) 운영, 전산실·서버실·서고 등 중요실 보유 여부로 구분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11204525" y="5832500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8825" y="5946800"/>
            <a:ext cx="247650" cy="2476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52225" y="5832500"/>
            <a:ext cx="442502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 접촉 자동 강조</a:t>
            </a:r>
            <a:endParaRPr lang="en-US" sz="1875" dirty="0"/>
          </a:p>
        </p:txBody>
      </p:sp>
      <p:sp>
        <p:nvSpPr>
          <p:cNvPr id="25" name="Text 20"/>
          <p:cNvSpPr/>
          <p:nvPr/>
        </p:nvSpPr>
        <p:spPr>
          <a:xfrm>
            <a:off x="11852225" y="6161112"/>
            <a:ext cx="4425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조건을 모두 충족하는 고객처를 '우선 접촉'으로 표시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11204525" y="6608787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18825" y="6723087"/>
            <a:ext cx="247650" cy="2476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52225" y="6608787"/>
            <a:ext cx="38431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타이밍 신호</a:t>
            </a:r>
            <a:endParaRPr lang="en-US" sz="1875" dirty="0"/>
          </a:p>
        </p:txBody>
      </p:sp>
      <p:sp>
        <p:nvSpPr>
          <p:cNvPr id="29" name="Text 23"/>
          <p:cNvSpPr/>
          <p:nvPr/>
        </p:nvSpPr>
        <p:spPr>
          <a:xfrm>
            <a:off x="11852225" y="6937400"/>
            <a:ext cx="38431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화재·침수 등 위험 신호를 지도 내 오버레이 표출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53915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· Key Features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계약 인사이트를 외부 데이터와 연계, 신규 타깃 발굴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510730"/>
            <a:ext cx="9623375" cy="5230118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571500" dist="228600" dir="5400000">
              <a:srgbClr val="13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525" y="2520255"/>
            <a:ext cx="9604325" cy="476250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2986980"/>
            <a:ext cx="96043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" name="Shape 6"/>
          <p:cNvSpPr/>
          <p:nvPr/>
        </p:nvSpPr>
        <p:spPr>
          <a:xfrm>
            <a:off x="136207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178117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1" name="Shape 9"/>
          <p:cNvSpPr/>
          <p:nvPr/>
        </p:nvSpPr>
        <p:spPr>
          <a:xfrm>
            <a:off x="8619679" y="7216973"/>
            <a:ext cx="1984772" cy="361950"/>
          </a:xfrm>
          <a:prstGeom prst="roundRect">
            <a:avLst>
              <a:gd name="adj" fmla="val 50000"/>
            </a:avLst>
          </a:prstGeom>
          <a:solidFill>
            <a:srgbClr val="131A33">
              <a:alpha val="82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079" y="7302698"/>
            <a:ext cx="190500" cy="190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038779" y="7297936"/>
            <a:ext cx="1489472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마우스를 올리면 확대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204525" y="3570833"/>
            <a:ext cx="2380580" cy="414338"/>
          </a:xfrm>
          <a:prstGeom prst="roundRect">
            <a:avLst>
              <a:gd name="adj" fmla="val 50000"/>
            </a:avLst>
          </a:prstGeom>
          <a:solidFill>
            <a:srgbClr val="ECE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1375975" y="3663702"/>
            <a:ext cx="7528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02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2157397" y="3656558"/>
            <a:ext cx="133245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신규 고객 발굴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1204525" y="4232821"/>
            <a:ext cx="61186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지역·용도만 고르면 후보가 점수순으로 정렬되고, 점수 산출 근거와 위험 신호를 한 화면에서 확인합니다.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1204525" y="5299621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8825" y="5413921"/>
            <a:ext cx="247650" cy="2476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52225" y="5299621"/>
            <a:ext cx="5563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기반 스코어링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11852225" y="5628233"/>
            <a:ext cx="55637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시설 규모·용도 적합도·복잡도·노후화를 가중 합산해 우선순위로 제시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11204525" y="6075908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8825" y="6190208"/>
            <a:ext cx="247650" cy="2476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52225" y="6075908"/>
            <a:ext cx="38431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타이밍 신호</a:t>
            </a:r>
            <a:endParaRPr lang="en-US" sz="1875" dirty="0"/>
          </a:p>
        </p:txBody>
      </p:sp>
      <p:sp>
        <p:nvSpPr>
          <p:cNvPr id="25" name="Text 20"/>
          <p:cNvSpPr/>
          <p:nvPr/>
        </p:nvSpPr>
        <p:spPr>
          <a:xfrm>
            <a:off x="11852225" y="6404521"/>
            <a:ext cx="38431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화재·침수 등 위험 신호를 지도 내 오버레이 표출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6910670" y="9510713"/>
            <a:ext cx="3105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53915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· Key Features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뉴스에서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타이밍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자동 포착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510730"/>
            <a:ext cx="9623375" cy="5222974"/>
          </a:xfrm>
          <a:prstGeom prst="roundRect">
            <a:avLst>
              <a:gd name="adj" fmla="val 4377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571500" dist="228600" dir="5400000">
              <a:srgbClr val="13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525" y="2520255"/>
            <a:ext cx="9604325" cy="476250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2986980"/>
            <a:ext cx="96043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" name="Shape 6"/>
          <p:cNvSpPr/>
          <p:nvPr/>
        </p:nvSpPr>
        <p:spPr>
          <a:xfrm>
            <a:off x="136207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178117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1" name="Shape 9"/>
          <p:cNvSpPr/>
          <p:nvPr/>
        </p:nvSpPr>
        <p:spPr>
          <a:xfrm>
            <a:off x="8619679" y="7209830"/>
            <a:ext cx="1984772" cy="361950"/>
          </a:xfrm>
          <a:prstGeom prst="roundRect">
            <a:avLst>
              <a:gd name="adj" fmla="val 50000"/>
            </a:avLst>
          </a:prstGeom>
          <a:solidFill>
            <a:srgbClr val="131A33">
              <a:alpha val="82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079" y="7295555"/>
            <a:ext cx="190500" cy="190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038779" y="7290792"/>
            <a:ext cx="1489472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마우스를 올리면 확대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204525" y="3179118"/>
            <a:ext cx="2552105" cy="414338"/>
          </a:xfrm>
          <a:prstGeom prst="roundRect">
            <a:avLst>
              <a:gd name="adj" fmla="val 50000"/>
            </a:avLst>
          </a:prstGeom>
          <a:solidFill>
            <a:srgbClr val="ECE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1375975" y="3271986"/>
            <a:ext cx="7528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03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2157397" y="3264843"/>
            <a:ext cx="1503983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영업 타이밍 신호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1204525" y="3841105"/>
            <a:ext cx="61186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화재·보안 이슈를 수집·요약해, 지금 움직여야 할 영업 알림과 타이밍 신호로 제공합니다.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1204525" y="4907905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8825" y="5022205"/>
            <a:ext cx="247650" cy="2476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52225" y="4907905"/>
            <a:ext cx="5438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 영업 알림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11852225" y="5236518"/>
            <a:ext cx="5438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침수 위험구역·경비원 계약 만료 임박 등 지금 챙길 대상을 자동 알림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11204525" y="5684193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8825" y="5798493"/>
            <a:ext cx="247650" cy="2476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52225" y="5684193"/>
            <a:ext cx="42401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 관련 뉴스</a:t>
            </a:r>
            <a:endParaRPr lang="en-US" sz="1875" dirty="0"/>
          </a:p>
        </p:txBody>
      </p:sp>
      <p:sp>
        <p:nvSpPr>
          <p:cNvPr id="25" name="Text 20"/>
          <p:cNvSpPr/>
          <p:nvPr/>
        </p:nvSpPr>
        <p:spPr>
          <a:xfrm>
            <a:off x="11852225" y="6012805"/>
            <a:ext cx="42401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화재·보안 이슈를 지역·업종·규모로 정리해 제공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11204525" y="6460480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18825" y="6574780"/>
            <a:ext cx="247650" cy="2476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52225" y="6460480"/>
            <a:ext cx="557648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타이밍 신호</a:t>
            </a:r>
            <a:endParaRPr lang="en-US" sz="1875" dirty="0"/>
          </a:p>
        </p:txBody>
      </p:sp>
      <p:sp>
        <p:nvSpPr>
          <p:cNvPr id="29" name="Text 23"/>
          <p:cNvSpPr/>
          <p:nvPr/>
        </p:nvSpPr>
        <p:spPr>
          <a:xfrm>
            <a:off x="11852225" y="6789093"/>
            <a:ext cx="55764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발생순으로 정렬해 보안·관리 수요가 커지는 적시 접촉 기회 포착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53915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· Key Features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결과가 쌓여,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관리·분석 자산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됩니다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510730"/>
            <a:ext cx="9623375" cy="5670872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571500" dist="228600" dir="5400000">
              <a:srgbClr val="13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525" y="2520255"/>
            <a:ext cx="9604325" cy="476250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2986980"/>
            <a:ext cx="96043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8" name="Shape 6"/>
          <p:cNvSpPr/>
          <p:nvPr/>
        </p:nvSpPr>
        <p:spPr>
          <a:xfrm>
            <a:off x="136207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1781175" y="2691705"/>
            <a:ext cx="123825" cy="123825"/>
          </a:xfrm>
          <a:prstGeom prst="ellipse">
            <a:avLst/>
          </a:prstGeom>
          <a:solidFill>
            <a:srgbClr val="E6EAF3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2996505"/>
            <a:ext cx="9604325" cy="4685035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04925" y="5100861"/>
            <a:ext cx="476250" cy="476250"/>
          </a:xfrm>
          <a:prstGeom prst="ellipse">
            <a:avLst/>
          </a:prstGeom>
          <a:solidFill>
            <a:srgbClr val="131A33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23975" y="5110386"/>
            <a:ext cx="4381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128200" y="5100861"/>
            <a:ext cx="476250" cy="476250"/>
          </a:xfrm>
          <a:prstGeom prst="ellipse">
            <a:avLst/>
          </a:prstGeom>
          <a:solidFill>
            <a:srgbClr val="131A33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47250" y="5110386"/>
            <a:ext cx="4381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716563" y="7414840"/>
            <a:ext cx="266700" cy="114300"/>
          </a:xfrm>
          <a:prstGeom prst="roundRect">
            <a:avLst>
              <a:gd name="adj" fmla="val 50000"/>
            </a:avLst>
          </a:prstGeom>
          <a:solidFill>
            <a:srgbClr val="3556FF"/>
          </a:solidFill>
          <a:ln/>
          <a:effectLst>
            <a:outerShdw sx="100000" sy="100000" kx="0" ky="0" algn="bl" rotWithShape="0" blurRad="38100" dist="9525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8513" y="7414840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  <a:effectLst>
            <a:outerShdw sx="100000" sy="100000" kx="0" ky="0" algn="bl" rotWithShape="0" blurRad="38100" dist="9525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52525" y="7681540"/>
            <a:ext cx="9604325" cy="4905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7681540"/>
            <a:ext cx="960432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0" name="Text 18"/>
          <p:cNvSpPr/>
          <p:nvPr/>
        </p:nvSpPr>
        <p:spPr>
          <a:xfrm>
            <a:off x="1160860" y="7824415"/>
            <a:ext cx="95876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1204525" y="3403029"/>
            <a:ext cx="2563118" cy="414338"/>
          </a:xfrm>
          <a:prstGeom prst="roundRect">
            <a:avLst>
              <a:gd name="adj" fmla="val 50000"/>
            </a:avLst>
          </a:prstGeom>
          <a:solidFill>
            <a:srgbClr val="ECE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375975" y="3495898"/>
            <a:ext cx="7528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04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2157397" y="3488754"/>
            <a:ext cx="151499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결과 관리·자산화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1204525" y="4065017"/>
            <a:ext cx="61186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방문 결과가 관리자 대시보드와 기록으로 축적되어, 지사 단위 관리·분석 자산이 됩니다.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204525" y="5131817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8825" y="5246117"/>
            <a:ext cx="247650" cy="2476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852225" y="5131817"/>
            <a:ext cx="41482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11852225" y="5460429"/>
            <a:ext cx="41482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지사 목표 달성 현황과 소속 컨설턴트 실적을 한눈에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1204525" y="5908104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8825" y="6022404"/>
            <a:ext cx="247650" cy="2476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1852225" y="5908104"/>
            <a:ext cx="38447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결과 기록</a:t>
            </a:r>
            <a:endParaRPr lang="en-US" sz="1875" dirty="0"/>
          </a:p>
        </p:txBody>
      </p:sp>
      <p:sp>
        <p:nvSpPr>
          <p:cNvPr id="32" name="Text 28"/>
          <p:cNvSpPr/>
          <p:nvPr/>
        </p:nvSpPr>
        <p:spPr>
          <a:xfrm>
            <a:off x="11852225" y="6236717"/>
            <a:ext cx="384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상태·메모를 바로 수정하고 음성·AI로 보강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11204525" y="6684392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8825" y="6798692"/>
            <a:ext cx="247650" cy="24765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852225" y="6684392"/>
            <a:ext cx="39956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자산화</a:t>
            </a:r>
            <a:endParaRPr lang="en-US" sz="1875" dirty="0"/>
          </a:p>
        </p:txBody>
      </p:sp>
      <p:sp>
        <p:nvSpPr>
          <p:cNvPr id="36" name="Text 31"/>
          <p:cNvSpPr/>
          <p:nvPr/>
        </p:nvSpPr>
        <p:spPr>
          <a:xfrm>
            <a:off x="11852225" y="7013004"/>
            <a:ext cx="39956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CSV로 내려받아 조직의 영업 자산으로 축적·분석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11B886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83446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11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· 비용 효율 · 연동 구조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700명이 써도 월 60만 원, 사내 시스템 연동 개발은 필요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415480"/>
            <a:ext cx="5194250" cy="1749698"/>
          </a:xfrm>
          <a:prstGeom prst="roundRect">
            <a:avLst>
              <a:gd name="adj" fmla="val 13065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38275" y="2672655"/>
            <a:ext cx="50640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사용 규모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438275" y="3020318"/>
            <a:ext cx="50640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pPr algn="l" indent="0" marL="0">
              <a:lnSpc>
                <a:spcPct val="100000"/>
              </a:lnSpc>
              <a:buNone/>
            </a:pPr>
            <a:r>
              <a:rPr lang="en-US" sz="19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1438275" y="3668018"/>
            <a:ext cx="5064070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700명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관리자 50명이 실시간 사용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46800" y="2415480"/>
            <a:ext cx="5194325" cy="1749698"/>
          </a:xfrm>
          <a:prstGeom prst="roundRect">
            <a:avLst>
              <a:gd name="adj" fmla="val 13065"/>
            </a:avLst>
          </a:prstGeom>
          <a:gradFill rotWithShape="1">
            <a:gsLst>
              <a:gs pos="0">
                <a:srgbClr val="DEF7EE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200000" scaled="0"/>
          </a:gradFill>
          <a:ln w="9525">
            <a:solidFill>
              <a:srgbClr val="BFEEDD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42075" y="2672655"/>
            <a:ext cx="506415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AI 운영비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842075" y="3020318"/>
            <a:ext cx="506415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74" kern="0" dirty="0">
                <a:solidFill>
                  <a:srgbClr val="11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</a:t>
            </a:r>
            <a:pPr algn="l" indent="0" marL="0">
              <a:lnSpc>
                <a:spcPct val="100000"/>
              </a:lnSpc>
              <a:buNone/>
            </a:pPr>
            <a:r>
              <a:rPr lang="en-US" sz="1950" b="1" spc="-174" kern="0" dirty="0">
                <a:solidFill>
                  <a:srgbClr val="11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원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6842075" y="3668018"/>
            <a:ext cx="5064152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700명이 종일 써도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순수 API 비용 월 60만 원 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950675" y="2415480"/>
            <a:ext cx="5194250" cy="1749698"/>
          </a:xfrm>
          <a:prstGeom prst="roundRect">
            <a:avLst>
              <a:gd name="adj" fmla="val 13065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245950" y="2672655"/>
            <a:ext cx="50640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구조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2245950" y="3020318"/>
            <a:ext cx="50640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19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-Tier</a:t>
            </a:r>
            <a:endParaRPr lang="en-US" sz="4350" dirty="0"/>
          </a:p>
        </p:txBody>
      </p:sp>
      <p:sp>
        <p:nvSpPr>
          <p:cNvPr id="16" name="Text 14"/>
          <p:cNvSpPr/>
          <p:nvPr/>
        </p:nvSpPr>
        <p:spPr>
          <a:xfrm>
            <a:off x="12245950" y="3668018"/>
            <a:ext cx="5064070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중계 서버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통해 사내·외부 시스템과 연동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43000" y="4356014"/>
            <a:ext cx="7209532" cy="357187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9225" y="4596520"/>
            <a:ext cx="14850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비용 시뮬레이션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23356" y="4594139"/>
            <a:ext cx="905321" cy="233362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/>
        </p:spPr>
      </p:sp>
      <p:sp>
        <p:nvSpPr>
          <p:cNvPr id="20" name="Text 18"/>
          <p:cNvSpPr/>
          <p:nvPr/>
        </p:nvSpPr>
        <p:spPr>
          <a:xfrm>
            <a:off x="3028131" y="4632239"/>
            <a:ext cx="7719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· AI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19225" y="5541877"/>
            <a:ext cx="6657082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2" name="Text 20"/>
          <p:cNvSpPr/>
          <p:nvPr/>
        </p:nvSpPr>
        <p:spPr>
          <a:xfrm>
            <a:off x="1419225" y="4998952"/>
            <a:ext cx="68727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 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9225" y="5246602"/>
            <a:ext cx="246172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건축물대장 · 도시침수지도 (월 1회 캐싱)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705279" y="5082296"/>
            <a:ext cx="371029" cy="2905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spc="-12" kern="0" dirty="0">
                <a:solidFill>
                  <a:srgbClr val="11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0원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419225" y="6218152"/>
            <a:ext cx="6657082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6" name="Text 24"/>
          <p:cNvSpPr/>
          <p:nvPr/>
        </p:nvSpPr>
        <p:spPr>
          <a:xfrm>
            <a:off x="1419225" y="5675227"/>
            <a:ext cx="63532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 수집 AI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9225" y="5922877"/>
            <a:ext cx="154346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 1회 · 기사 30건 요약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233047" y="5758571"/>
            <a:ext cx="843260" cy="2905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2~3만 원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419225" y="6894427"/>
            <a:ext cx="6657082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0" name="Text 28"/>
          <p:cNvSpPr/>
          <p:nvPr/>
        </p:nvSpPr>
        <p:spPr>
          <a:xfrm>
            <a:off x="1419225" y="6351502"/>
            <a:ext cx="61001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인터뷰 분석 AI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19225" y="6599152"/>
            <a:ext cx="1993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약 2.8만 건 · 영업기회 자산화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7002959" y="6434846"/>
            <a:ext cx="1073348" cy="2905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45~60만 원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419225" y="7056352"/>
            <a:ext cx="6657082" cy="633413"/>
          </a:xfrm>
          <a:prstGeom prst="roundRect">
            <a:avLst>
              <a:gd name="adj" fmla="val 24060"/>
            </a:avLst>
          </a:prstGeom>
          <a:solidFill>
            <a:srgbClr val="11B886"/>
          </a:solidFill>
          <a:ln/>
        </p:spPr>
      </p:sp>
      <p:sp>
        <p:nvSpPr>
          <p:cNvPr id="34" name="Text 32"/>
          <p:cNvSpPr/>
          <p:nvPr/>
        </p:nvSpPr>
        <p:spPr>
          <a:xfrm>
            <a:off x="1628775" y="7265902"/>
            <a:ext cx="158676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EAFB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 (700명 실시간)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5461471" y="7199227"/>
            <a:ext cx="264581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~60만 원</a:t>
            </a:r>
            <a:pPr algn="l" indent="0" marL="0">
              <a:buNone/>
            </a:pPr>
            <a:r>
              <a:rPr lang="en-US" sz="1200" b="1" spc="-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극도의 비용 효율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8562082" y="4356014"/>
            <a:ext cx="8582918" cy="357187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838307" y="4594139"/>
            <a:ext cx="16997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시스템 연동 구조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557123" y="4594139"/>
            <a:ext cx="543744" cy="228600"/>
          </a:xfrm>
          <a:prstGeom prst="roundRect">
            <a:avLst>
              <a:gd name="adj" fmla="val 50000"/>
            </a:avLst>
          </a:prstGeom>
          <a:solidFill>
            <a:srgbClr val="F7F9FE"/>
          </a:solidFill>
          <a:ln/>
        </p:spPr>
      </p:sp>
      <p:sp>
        <p:nvSpPr>
          <p:cNvPr id="39" name="Text 37"/>
          <p:cNvSpPr/>
          <p:nvPr/>
        </p:nvSpPr>
        <p:spPr>
          <a:xfrm>
            <a:off x="10661898" y="4632239"/>
            <a:ext cx="4103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38307" y="5303752"/>
            <a:ext cx="2448223" cy="923925"/>
          </a:xfrm>
          <a:prstGeom prst="roundRect">
            <a:avLst>
              <a:gd name="adj" fmla="val 14433"/>
            </a:avLst>
          </a:prstGeom>
          <a:solidFill>
            <a:srgbClr val="F7F9FE"/>
          </a:solidFill>
          <a:ln w="14288">
            <a:solidFill>
              <a:srgbClr val="E6EA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47845" y="5470439"/>
            <a:ext cx="2229148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웹 · 앱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8878297" y="5913352"/>
            <a:ext cx="236824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13" dirty="0"/>
          </a:p>
        </p:txBody>
      </p:sp>
      <p:sp>
        <p:nvSpPr>
          <p:cNvPr id="43" name="Text 41"/>
          <p:cNvSpPr/>
          <p:nvPr/>
        </p:nvSpPr>
        <p:spPr>
          <a:xfrm>
            <a:off x="11400830" y="5646652"/>
            <a:ext cx="2842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1649742" y="5094297"/>
            <a:ext cx="2595195" cy="1342835"/>
          </a:xfrm>
          <a:prstGeom prst="roundRect">
            <a:avLst>
              <a:gd name="adj" fmla="val 10526"/>
            </a:avLst>
          </a:prstGeom>
          <a:solidFill>
            <a:srgbClr val="131A33"/>
          </a:solidFill>
          <a:ln w="15145">
            <a:solidFill>
              <a:srgbClr val="131A33"/>
            </a:solidFill>
            <a:prstDash val="solid"/>
          </a:ln>
          <a:effectLst>
            <a:outerShdw sx="100000" sy="100000" kx="0" ky="0" algn="bl" rotWithShape="0" blurRad="228600" dist="76200" dir="5400000">
              <a:srgbClr val="131A33">
                <a:alpha val="8000"/>
              </a:srgbClr>
            </a:outerShdw>
          </a:effectLst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95853" y="5270985"/>
            <a:ext cx="302895" cy="302895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1768138" y="5634460"/>
            <a:ext cx="2358404" cy="467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2" b="1" spc="-1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중계 서버</a:t>
            </a:r>
            <a:endParaRPr lang="en-US" sz="1352" dirty="0"/>
          </a:p>
        </p:txBody>
      </p:sp>
      <p:sp>
        <p:nvSpPr>
          <p:cNvPr id="47" name="Text 44"/>
          <p:cNvSpPr/>
          <p:nvPr/>
        </p:nvSpPr>
        <p:spPr>
          <a:xfrm>
            <a:off x="11692127" y="6103947"/>
            <a:ext cx="2510424" cy="19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73" b="1" spc="-13" kern="0" dirty="0">
                <a:solidFill>
                  <a:srgbClr val="9D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073" dirty="0"/>
          </a:p>
        </p:txBody>
      </p:sp>
      <p:sp>
        <p:nvSpPr>
          <p:cNvPr id="48" name="Text 45"/>
          <p:cNvSpPr/>
          <p:nvPr/>
        </p:nvSpPr>
        <p:spPr>
          <a:xfrm>
            <a:off x="14285788" y="5646652"/>
            <a:ext cx="2842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14608150" y="4994189"/>
            <a:ext cx="2260625" cy="721519"/>
          </a:xfrm>
          <a:prstGeom prst="roundRect">
            <a:avLst>
              <a:gd name="adj" fmla="val 18482"/>
            </a:avLst>
          </a:prstGeom>
          <a:solidFill>
            <a:srgbClr val="F7F9FE"/>
          </a:solidFill>
          <a:ln w="14288">
            <a:solidFill>
              <a:srgbClr val="E6EAF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4657520" y="5160877"/>
            <a:ext cx="216188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시스템</a:t>
            </a:r>
            <a:endParaRPr lang="en-US" sz="1275" dirty="0"/>
          </a:p>
        </p:txBody>
      </p:sp>
      <p:sp>
        <p:nvSpPr>
          <p:cNvPr id="51" name="Text 48"/>
          <p:cNvSpPr/>
          <p:nvPr/>
        </p:nvSpPr>
        <p:spPr>
          <a:xfrm>
            <a:off x="14657520" y="5401383"/>
            <a:ext cx="216188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KNOX · ERP · CRM</a:t>
            </a:r>
            <a:endParaRPr lang="en-US" sz="1013" dirty="0"/>
          </a:p>
        </p:txBody>
      </p:sp>
      <p:sp>
        <p:nvSpPr>
          <p:cNvPr id="52" name="Shape 49"/>
          <p:cNvSpPr/>
          <p:nvPr/>
        </p:nvSpPr>
        <p:spPr>
          <a:xfrm>
            <a:off x="14608150" y="5810958"/>
            <a:ext cx="2260625" cy="726281"/>
          </a:xfrm>
          <a:prstGeom prst="roundRect">
            <a:avLst>
              <a:gd name="adj" fmla="val 18361"/>
            </a:avLst>
          </a:prstGeom>
          <a:solidFill>
            <a:srgbClr val="F7F9FE"/>
          </a:solidFill>
          <a:ln w="14288">
            <a:solidFill>
              <a:srgbClr val="E6EAF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4657520" y="5977646"/>
            <a:ext cx="216188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7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 · LLM</a:t>
            </a:r>
            <a:endParaRPr lang="en-US" sz="1275" dirty="0"/>
          </a:p>
        </p:txBody>
      </p:sp>
      <p:sp>
        <p:nvSpPr>
          <p:cNvPr id="54" name="Text 51"/>
          <p:cNvSpPr/>
          <p:nvPr/>
        </p:nvSpPr>
        <p:spPr>
          <a:xfrm>
            <a:off x="14657520" y="6218152"/>
            <a:ext cx="21618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공공포털 · OpenAI</a:t>
            </a:r>
            <a:endParaRPr lang="en-US" sz="1013" dirty="0"/>
          </a:p>
        </p:txBody>
      </p:sp>
      <p:sp>
        <p:nvSpPr>
          <p:cNvPr id="55" name="Shape 52"/>
          <p:cNvSpPr/>
          <p:nvPr/>
        </p:nvSpPr>
        <p:spPr>
          <a:xfrm>
            <a:off x="8838307" y="6689639"/>
            <a:ext cx="2504852" cy="285750"/>
          </a:xfrm>
          <a:prstGeom prst="roundRect">
            <a:avLst>
              <a:gd name="adj" fmla="val 50000"/>
            </a:avLst>
          </a:prstGeom>
          <a:solidFill>
            <a:srgbClr val="ECEFFF"/>
          </a:solidFill>
          <a:ln/>
        </p:spPr>
      </p:sp>
      <p:sp>
        <p:nvSpPr>
          <p:cNvPr id="56" name="Shape 53"/>
          <p:cNvSpPr/>
          <p:nvPr/>
        </p:nvSpPr>
        <p:spPr>
          <a:xfrm>
            <a:off x="8962132" y="6799177"/>
            <a:ext cx="66675" cy="6667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57" name="Text 54"/>
          <p:cNvSpPr/>
          <p:nvPr/>
        </p:nvSpPr>
        <p:spPr>
          <a:xfrm>
            <a:off x="9095482" y="6746789"/>
            <a:ext cx="220005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레거시(KNOX·ERP·CRM) 연동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11438409" y="6689639"/>
            <a:ext cx="1773064" cy="285750"/>
          </a:xfrm>
          <a:prstGeom prst="roundRect">
            <a:avLst>
              <a:gd name="adj" fmla="val 50000"/>
            </a:avLst>
          </a:prstGeom>
          <a:solidFill>
            <a:srgbClr val="ECEFFF"/>
          </a:solidFill>
          <a:ln/>
        </p:spPr>
      </p:sp>
      <p:sp>
        <p:nvSpPr>
          <p:cNvPr id="59" name="Shape 56"/>
          <p:cNvSpPr/>
          <p:nvPr/>
        </p:nvSpPr>
        <p:spPr>
          <a:xfrm>
            <a:off x="11562234" y="6799177"/>
            <a:ext cx="66675" cy="6667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60" name="Text 57"/>
          <p:cNvSpPr/>
          <p:nvPr/>
        </p:nvSpPr>
        <p:spPr>
          <a:xfrm>
            <a:off x="11695584" y="6746789"/>
            <a:ext cx="1468264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API·LLM 통합 호출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13306723" y="6689639"/>
            <a:ext cx="1716212" cy="285750"/>
          </a:xfrm>
          <a:prstGeom prst="roundRect">
            <a:avLst>
              <a:gd name="adj" fmla="val 50000"/>
            </a:avLst>
          </a:prstGeom>
          <a:solidFill>
            <a:srgbClr val="ECEFFF"/>
          </a:solidFill>
          <a:ln/>
        </p:spPr>
      </p:sp>
      <p:sp>
        <p:nvSpPr>
          <p:cNvPr id="62" name="Shape 59"/>
          <p:cNvSpPr/>
          <p:nvPr/>
        </p:nvSpPr>
        <p:spPr>
          <a:xfrm>
            <a:off x="13430548" y="6799177"/>
            <a:ext cx="66675" cy="6667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63" name="Text 60"/>
          <p:cNvSpPr/>
          <p:nvPr/>
        </p:nvSpPr>
        <p:spPr>
          <a:xfrm>
            <a:off x="13563898" y="6746789"/>
            <a:ext cx="141141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중계 서버가 양쪽을 매개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1143000" y="8119750"/>
            <a:ext cx="5219700" cy="766763"/>
          </a:xfrm>
          <a:prstGeom prst="roundRect">
            <a:avLst>
              <a:gd name="adj" fmla="val 19876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1362075" y="8426931"/>
            <a:ext cx="152400" cy="152400"/>
          </a:xfrm>
          <a:prstGeom prst="ellipse">
            <a:avLst/>
          </a:prstGeom>
          <a:solidFill>
            <a:srgbClr val="11B886"/>
          </a:solidFill>
          <a:ln/>
        </p:spPr>
      </p:sp>
      <p:sp>
        <p:nvSpPr>
          <p:cNvPr id="66" name="Text 63"/>
          <p:cNvSpPr/>
          <p:nvPr/>
        </p:nvSpPr>
        <p:spPr>
          <a:xfrm>
            <a:off x="1657350" y="8300725"/>
            <a:ext cx="162835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KNOX 인증 연동</a:t>
            </a:r>
            <a:endParaRPr lang="en-US" sz="1425" dirty="0"/>
          </a:p>
        </p:txBody>
      </p:sp>
      <p:sp>
        <p:nvSpPr>
          <p:cNvPr id="67" name="Text 64"/>
          <p:cNvSpPr/>
          <p:nvPr/>
        </p:nvSpPr>
        <p:spPr>
          <a:xfrm>
            <a:off x="1657350" y="8534087"/>
            <a:ext cx="162835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사번 기반 단일 인증(SSO)</a:t>
            </a:r>
            <a:endParaRPr lang="en-US" sz="1125" dirty="0"/>
          </a:p>
        </p:txBody>
      </p:sp>
      <p:sp>
        <p:nvSpPr>
          <p:cNvPr id="68" name="Shape 65"/>
          <p:cNvSpPr/>
          <p:nvPr/>
        </p:nvSpPr>
        <p:spPr>
          <a:xfrm>
            <a:off x="6534150" y="8119750"/>
            <a:ext cx="5219700" cy="766763"/>
          </a:xfrm>
          <a:prstGeom prst="roundRect">
            <a:avLst>
              <a:gd name="adj" fmla="val 19876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6753225" y="8426931"/>
            <a:ext cx="152400" cy="1524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0" name="Text 67"/>
          <p:cNvSpPr/>
          <p:nvPr/>
        </p:nvSpPr>
        <p:spPr>
          <a:xfrm>
            <a:off x="7048500" y="8300725"/>
            <a:ext cx="23669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지사 기준정보 연동</a:t>
            </a:r>
            <a:endParaRPr lang="en-US" sz="1425" dirty="0"/>
          </a:p>
        </p:txBody>
      </p:sp>
      <p:sp>
        <p:nvSpPr>
          <p:cNvPr id="71" name="Text 68"/>
          <p:cNvSpPr/>
          <p:nvPr/>
        </p:nvSpPr>
        <p:spPr>
          <a:xfrm>
            <a:off x="7048500" y="8534087"/>
            <a:ext cx="236693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우편번호 매칭 지사·담당 영업사원 정보</a:t>
            </a:r>
            <a:endParaRPr lang="en-US" sz="1125" dirty="0"/>
          </a:p>
        </p:txBody>
      </p:sp>
      <p:sp>
        <p:nvSpPr>
          <p:cNvPr id="72" name="Shape 69"/>
          <p:cNvSpPr/>
          <p:nvPr/>
        </p:nvSpPr>
        <p:spPr>
          <a:xfrm>
            <a:off x="11925300" y="8119750"/>
            <a:ext cx="5219700" cy="766763"/>
          </a:xfrm>
          <a:prstGeom prst="roundRect">
            <a:avLst>
              <a:gd name="adj" fmla="val 19876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12144375" y="8426931"/>
            <a:ext cx="152400" cy="152400"/>
          </a:xfrm>
          <a:prstGeom prst="ellipse">
            <a:avLst/>
          </a:prstGeom>
          <a:solidFill>
            <a:srgbClr val="EE5D52"/>
          </a:solidFill>
          <a:ln/>
        </p:spPr>
      </p:sp>
      <p:sp>
        <p:nvSpPr>
          <p:cNvPr id="74" name="Text 71"/>
          <p:cNvSpPr/>
          <p:nvPr/>
        </p:nvSpPr>
        <p:spPr>
          <a:xfrm>
            <a:off x="12439650" y="8300725"/>
            <a:ext cx="24089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ERP·CRM 데이터 연동</a:t>
            </a:r>
            <a:endParaRPr lang="en-US" sz="1425" dirty="0"/>
          </a:p>
        </p:txBody>
      </p:sp>
      <p:sp>
        <p:nvSpPr>
          <p:cNvPr id="75" name="Text 72"/>
          <p:cNvSpPr/>
          <p:nvPr/>
        </p:nvSpPr>
        <p:spPr>
          <a:xfrm>
            <a:off x="12439650" y="8534087"/>
            <a:ext cx="24089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입력값 가망고객 등록 · 계약건 업데이트</a:t>
            </a:r>
            <a:endParaRPr lang="en-US" sz="1125" dirty="0"/>
          </a:p>
        </p:txBody>
      </p:sp>
      <p:sp>
        <p:nvSpPr>
          <p:cNvPr id="76" name="Text 73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77" name="Text 74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371605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정량적 기대효과 · 도입 효과 시뮬레이션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구독형(Run-rate) 구조 기반,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도입 효과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510730"/>
            <a:ext cx="1964457" cy="652463"/>
          </a:xfrm>
          <a:prstGeom prst="roundRect">
            <a:avLst>
              <a:gd name="adj" fmla="val 23358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00175" y="2691705"/>
            <a:ext cx="67002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704명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2079724" y="2782193"/>
            <a:ext cx="8467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전사 영업사원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3240807" y="2510730"/>
            <a:ext cx="2300213" cy="652463"/>
          </a:xfrm>
          <a:prstGeom prst="roundRect">
            <a:avLst>
              <a:gd name="adj" fmla="val 23358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7982" y="2691705"/>
            <a:ext cx="8073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94건/월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314825" y="2782193"/>
            <a:ext cx="1045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월 신규 계약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5674370" y="2510730"/>
            <a:ext cx="2262039" cy="652463"/>
          </a:xfrm>
          <a:prstGeom prst="roundRect">
            <a:avLst>
              <a:gd name="adj" fmla="val 23358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31545" y="2691705"/>
            <a:ext cx="8073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 원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6748388" y="2782193"/>
            <a:ext cx="10070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월 서비스료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5603513" y="2751237"/>
            <a:ext cx="169563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기준 · 유지고 실데이터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1143000" y="3468330"/>
            <a:ext cx="5181600" cy="4832970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43000" y="8291775"/>
            <a:ext cx="51816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3468330"/>
            <a:ext cx="5181600" cy="47625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3468330"/>
            <a:ext cx="9525" cy="483297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315075" y="3468330"/>
            <a:ext cx="9525" cy="483297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0" name="Text 18"/>
          <p:cNvSpPr/>
          <p:nvPr/>
        </p:nvSpPr>
        <p:spPr>
          <a:xfrm>
            <a:off x="1476375" y="3896955"/>
            <a:ext cx="4966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6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· 보수적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76375" y="4158892"/>
            <a:ext cx="496633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프로세스 효율화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476375" y="4544655"/>
            <a:ext cx="465029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30% 영업사원(211명)이 에이전트를 적극 활용해 월 +1건 추가 계약 달성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476375" y="6602055"/>
            <a:ext cx="45148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76375" y="5611455"/>
            <a:ext cx="45148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5" name="Text 23"/>
          <p:cNvSpPr/>
          <p:nvPr/>
        </p:nvSpPr>
        <p:spPr>
          <a:xfrm>
            <a:off x="1476375" y="5830530"/>
            <a:ext cx="9488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신규 계약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063505" y="5830530"/>
            <a:ext cx="10039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→ </a:t>
            </a:r>
            <a:pPr algn="l" indent="0" marL="0">
              <a:buNone/>
            </a:pPr>
            <a:r>
              <a:rPr lang="en-US" sz="142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305건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476375" y="6178193"/>
            <a:ext cx="9488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추가 매출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5083001" y="6178193"/>
            <a:ext cx="98442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+3,165만 원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476375" y="7011630"/>
            <a:ext cx="4966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누적 추가 매출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76375" y="7273568"/>
            <a:ext cx="4966335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68.3</a:t>
            </a:r>
            <a:pPr algn="l" indent="0" marL="0">
              <a:lnSpc>
                <a:spcPct val="105000"/>
              </a:lnSpc>
              <a:buNone/>
            </a:pPr>
            <a:r>
              <a:rPr lang="en-US" sz="19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350" dirty="0"/>
          </a:p>
        </p:txBody>
      </p:sp>
      <p:sp>
        <p:nvSpPr>
          <p:cNvPr id="31" name="Shape 29"/>
          <p:cNvSpPr/>
          <p:nvPr/>
        </p:nvSpPr>
        <p:spPr>
          <a:xfrm>
            <a:off x="6553200" y="3468330"/>
            <a:ext cx="5181600" cy="4832970"/>
          </a:xfrm>
          <a:prstGeom prst="roundRect">
            <a:avLst>
              <a:gd name="adj" fmla="val 4730"/>
            </a:avLst>
          </a:prstGeom>
          <a:gradFill rotWithShape="1">
            <a:gsLst>
              <a:gs pos="0">
                <a:srgbClr val="ECE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4800000" scaled="0"/>
          </a:gra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53200" y="8291775"/>
            <a:ext cx="5181600" cy="9525"/>
          </a:xfrm>
          <a:prstGeom prst="rect">
            <a:avLst/>
          </a:prstGeom>
          <a:solidFill>
            <a:srgbClr val="DCE2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553200" y="3468330"/>
            <a:ext cx="5181600" cy="47625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553200" y="3468330"/>
            <a:ext cx="9525" cy="4832970"/>
          </a:xfrm>
          <a:prstGeom prst="rect">
            <a:avLst/>
          </a:prstGeom>
          <a:solidFill>
            <a:srgbClr val="DCE2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1725275" y="3468330"/>
            <a:ext cx="9525" cy="4832970"/>
          </a:xfrm>
          <a:prstGeom prst="rect">
            <a:avLst/>
          </a:prstGeom>
          <a:solidFill>
            <a:srgbClr val="DCE2FF"/>
          </a:solidFill>
          <a:ln/>
        </p:spPr>
      </p:sp>
      <p:sp>
        <p:nvSpPr>
          <p:cNvPr id="36" name="Text 34"/>
          <p:cNvSpPr/>
          <p:nvPr/>
        </p:nvSpPr>
        <p:spPr>
          <a:xfrm>
            <a:off x="6886575" y="3896955"/>
            <a:ext cx="4966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6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· 지향적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86575" y="4158892"/>
            <a:ext cx="496633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 상향 평준화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6886575" y="4544655"/>
            <a:ext cx="465029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전사 평균 생산성 +50% (인당 월 0.13 → 0.2건) · 기존 발표 목표치와 가장 일치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6886575" y="6602055"/>
            <a:ext cx="45148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5611455"/>
            <a:ext cx="45148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1" name="Text 39"/>
          <p:cNvSpPr/>
          <p:nvPr/>
        </p:nvSpPr>
        <p:spPr>
          <a:xfrm>
            <a:off x="6886575" y="5830530"/>
            <a:ext cx="9488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신규 계약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0473705" y="5830530"/>
            <a:ext cx="10039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→ </a:t>
            </a:r>
            <a:pPr algn="l" indent="0" marL="0">
              <a:buNone/>
            </a:pPr>
            <a:r>
              <a:rPr lang="en-US" sz="142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141건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6886575" y="6178193"/>
            <a:ext cx="9488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추가 매출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0641062" y="6178193"/>
            <a:ext cx="8365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+705만 원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6886575" y="7011630"/>
            <a:ext cx="4966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누적 추가 매출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86575" y="7273568"/>
            <a:ext cx="4966335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47.3</a:t>
            </a:r>
            <a:pPr algn="l" indent="0" marL="0">
              <a:lnSpc>
                <a:spcPct val="105000"/>
              </a:lnSpc>
              <a:buNone/>
            </a:pPr>
            <a:r>
              <a:rPr lang="en-US" sz="19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350" dirty="0"/>
          </a:p>
        </p:txBody>
      </p:sp>
      <p:sp>
        <p:nvSpPr>
          <p:cNvPr id="47" name="Shape 45"/>
          <p:cNvSpPr/>
          <p:nvPr/>
        </p:nvSpPr>
        <p:spPr>
          <a:xfrm>
            <a:off x="11963400" y="3468330"/>
            <a:ext cx="5181600" cy="4832970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1963400" y="8291775"/>
            <a:ext cx="518160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9" name="Shape 47"/>
          <p:cNvSpPr/>
          <p:nvPr/>
        </p:nvSpPr>
        <p:spPr>
          <a:xfrm>
            <a:off x="11963400" y="3468330"/>
            <a:ext cx="5181600" cy="47625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1963400" y="3468330"/>
            <a:ext cx="9525" cy="483297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1" name="Shape 49"/>
          <p:cNvSpPr/>
          <p:nvPr/>
        </p:nvSpPr>
        <p:spPr>
          <a:xfrm>
            <a:off x="17135475" y="3468330"/>
            <a:ext cx="9525" cy="483297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2" name="Text 50"/>
          <p:cNvSpPr/>
          <p:nvPr/>
        </p:nvSpPr>
        <p:spPr>
          <a:xfrm>
            <a:off x="12296775" y="3896955"/>
            <a:ext cx="4966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6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 · 공격적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296775" y="4158892"/>
            <a:ext cx="496633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미개척 시장 침투</a:t>
            </a:r>
            <a:endParaRPr lang="en-US" sz="2250" dirty="0"/>
          </a:p>
        </p:txBody>
      </p:sp>
      <p:sp>
        <p:nvSpPr>
          <p:cNvPr id="54" name="Text 52"/>
          <p:cNvSpPr/>
          <p:nvPr/>
        </p:nvSpPr>
        <p:spPr>
          <a:xfrm>
            <a:off x="12296775" y="4544655"/>
            <a:ext cx="465029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미개척 시장에서 월 120개 파이프라인 자동 확보 × 전환율 40%</a:t>
            </a:r>
            <a:endParaRPr lang="en-US" sz="1425" dirty="0"/>
          </a:p>
        </p:txBody>
      </p:sp>
      <p:sp>
        <p:nvSpPr>
          <p:cNvPr id="55" name="Shape 53"/>
          <p:cNvSpPr/>
          <p:nvPr/>
        </p:nvSpPr>
        <p:spPr>
          <a:xfrm>
            <a:off x="12296775" y="6602055"/>
            <a:ext cx="45148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6" name="Shape 54"/>
          <p:cNvSpPr/>
          <p:nvPr/>
        </p:nvSpPr>
        <p:spPr>
          <a:xfrm>
            <a:off x="12296775" y="5611455"/>
            <a:ext cx="4514850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7" name="Text 55"/>
          <p:cNvSpPr/>
          <p:nvPr/>
        </p:nvSpPr>
        <p:spPr>
          <a:xfrm>
            <a:off x="12296775" y="5830530"/>
            <a:ext cx="9488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신규 계약</a:t>
            </a:r>
            <a:endParaRPr lang="en-US" sz="1425" dirty="0"/>
          </a:p>
        </p:txBody>
      </p:sp>
      <p:sp>
        <p:nvSpPr>
          <p:cNvPr id="58" name="Text 56"/>
          <p:cNvSpPr/>
          <p:nvPr/>
        </p:nvSpPr>
        <p:spPr>
          <a:xfrm>
            <a:off x="15883905" y="5830530"/>
            <a:ext cx="10039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→ </a:t>
            </a:r>
            <a:pPr algn="l" indent="0" marL="0">
              <a:buNone/>
            </a:pPr>
            <a:r>
              <a:rPr lang="en-US" sz="142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142건</a:t>
            </a:r>
            <a:endParaRPr lang="en-US" sz="1425" dirty="0"/>
          </a:p>
        </p:txBody>
      </p:sp>
      <p:sp>
        <p:nvSpPr>
          <p:cNvPr id="59" name="Text 57"/>
          <p:cNvSpPr/>
          <p:nvPr/>
        </p:nvSpPr>
        <p:spPr>
          <a:xfrm>
            <a:off x="12296775" y="6178193"/>
            <a:ext cx="90011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침투율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15869692" y="6178193"/>
            <a:ext cx="101813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→ 2.5%</a:t>
            </a:r>
            <a:endParaRPr lang="en-US" sz="1425" dirty="0"/>
          </a:p>
        </p:txBody>
      </p:sp>
      <p:sp>
        <p:nvSpPr>
          <p:cNvPr id="61" name="Text 59"/>
          <p:cNvSpPr/>
          <p:nvPr/>
        </p:nvSpPr>
        <p:spPr>
          <a:xfrm>
            <a:off x="12296775" y="6840180"/>
            <a:ext cx="4966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누적 추가 매출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2296775" y="7102118"/>
            <a:ext cx="4966335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51.8</a:t>
            </a:r>
            <a:pPr algn="l" indent="0" marL="0">
              <a:lnSpc>
                <a:spcPct val="105000"/>
              </a:lnSpc>
              <a:buNone/>
            </a:pPr>
            <a:r>
              <a:rPr lang="en-US" sz="1950" b="1" spc="-174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350" dirty="0"/>
          </a:p>
        </p:txBody>
      </p:sp>
      <p:sp>
        <p:nvSpPr>
          <p:cNvPr id="63" name="Text 61"/>
          <p:cNvSpPr/>
          <p:nvPr/>
        </p:nvSpPr>
        <p:spPr>
          <a:xfrm>
            <a:off x="12296775" y="7739325"/>
            <a:ext cx="49663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복리 효과 반영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1143000" y="8607463"/>
            <a:ext cx="176022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799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3년 누적 = 매월 추가되는 신규 계약이 해지 없이 유지매출 누적 기준 · 건당 월 15만 원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3556FF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178608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 · Impact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현장의 목소리,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들어봤습니다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396767"/>
            <a:ext cx="7905750" cy="2215455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9525">
            <a:solidFill>
              <a:srgbClr val="E6EAF3"/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99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38275" y="2653942"/>
            <a:ext cx="8046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4500" b="1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438275" y="2882542"/>
            <a:ext cx="753465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'어디 가면 될까?'에 쓰던 시간을 '어떻게 설득할까?'에 집중합니다. 근거가 함께 떠서 방문 전 준비가 수월할 것 같아요.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438275" y="3821648"/>
            <a:ext cx="533400" cy="533400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9" name="Text 7"/>
          <p:cNvSpPr/>
          <p:nvPr/>
        </p:nvSpPr>
        <p:spPr>
          <a:xfrm>
            <a:off x="1400175" y="382164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095500" y="3843079"/>
            <a:ext cx="12588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고민석 프로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95500" y="4119304"/>
            <a:ext cx="12588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지사 컨설턴트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239250" y="2398130"/>
            <a:ext cx="7905750" cy="2215455"/>
          </a:xfrm>
          <a:prstGeom prst="roundRect">
            <a:avLst>
              <a:gd name="adj" fmla="val 10318"/>
            </a:avLst>
          </a:prstGeom>
          <a:solidFill>
            <a:srgbClr val="FFFFFF">
              <a:alpha val="99000"/>
            </a:srgbClr>
          </a:solidFill>
          <a:ln w="9525">
            <a:solidFill>
              <a:srgbClr val="E6EAF3">
                <a:alpha val="99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951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534525" y="2655305"/>
            <a:ext cx="8046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4500" b="1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9534525" y="2883905"/>
            <a:ext cx="753465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 뉴스나 건축물대장까지 엮여 있는 게 신선했어요. 이건 진짜 쓰겠다 싶었습니다. 이건 '어떠냐'가 아니라 필수로 있어야 합니다.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34525" y="3823011"/>
            <a:ext cx="533400" cy="533400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496425" y="3823011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191750" y="3844442"/>
            <a:ext cx="19830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김현철 프로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91750" y="4120667"/>
            <a:ext cx="19830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 블루스캔그룹 컨설턴트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143000" y="4804086"/>
            <a:ext cx="7905750" cy="2215455"/>
          </a:xfrm>
          <a:prstGeom prst="roundRect">
            <a:avLst>
              <a:gd name="adj" fmla="val 10318"/>
            </a:avLst>
          </a:prstGeom>
          <a:solidFill>
            <a:srgbClr val="FFFFFF">
              <a:alpha val="99000"/>
            </a:srgbClr>
          </a:solidFill>
          <a:ln w="9525">
            <a:solidFill>
              <a:srgbClr val="E6EAF3">
                <a:alpha val="99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951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38275" y="5061261"/>
            <a:ext cx="8046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4500" b="1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500" dirty="0"/>
          </a:p>
        </p:txBody>
      </p:sp>
      <p:sp>
        <p:nvSpPr>
          <p:cNvPr id="21" name="Text 19"/>
          <p:cNvSpPr/>
          <p:nvPr/>
        </p:nvSpPr>
        <p:spPr>
          <a:xfrm>
            <a:off x="1438275" y="5289861"/>
            <a:ext cx="80467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감으로 찍던 걸 데이터로 보여주니까 영업 갈 때 명분이 생기네요.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438275" y="5845139"/>
            <a:ext cx="533400" cy="533400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00175" y="584513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095500" y="5866570"/>
            <a:ext cx="20366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정영준 파트장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95500" y="6142795"/>
            <a:ext cx="20366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경북 블루스캔 최다 판매자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239250" y="4806896"/>
            <a:ext cx="7905750" cy="2215455"/>
          </a:xfrm>
          <a:prstGeom prst="roundRect">
            <a:avLst>
              <a:gd name="adj" fmla="val 10318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E6EAF3">
                <a:alpha val="98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31A33">
                <a:alpha val="5871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34525" y="5064071"/>
            <a:ext cx="8046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4500" b="1" spc="-12" kern="0" dirty="0">
                <a:solidFill>
                  <a:srgbClr val="DC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500" dirty="0"/>
          </a:p>
        </p:txBody>
      </p:sp>
      <p:sp>
        <p:nvSpPr>
          <p:cNvPr id="28" name="Text 26"/>
          <p:cNvSpPr/>
          <p:nvPr/>
        </p:nvSpPr>
        <p:spPr>
          <a:xfrm>
            <a:off x="9534525" y="5292671"/>
            <a:ext cx="753465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타겟이 한눈에 보이니까 인력 배치나 목표 배분할 때 근거가 생깁니다.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34525" y="6231777"/>
            <a:ext cx="533400" cy="533400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496425" y="623177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191750" y="6253208"/>
            <a:ext cx="13632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정경섭 그룹장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191750" y="6529433"/>
            <a:ext cx="10063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블루스캔그룹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143000" y="7231902"/>
            <a:ext cx="16002000" cy="1473473"/>
          </a:xfrm>
          <a:prstGeom prst="roundRect">
            <a:avLst>
              <a:gd name="adj" fmla="val 15514"/>
            </a:avLst>
          </a:prstGeom>
          <a:solidFill>
            <a:srgbClr val="ECEFFF">
              <a:alpha val="9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485900" y="7250952"/>
            <a:ext cx="468064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b="1" spc="-12" kern="0" dirty="0">
                <a:solidFill>
                  <a:srgbClr val="3556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300" dirty="0"/>
          </a:p>
        </p:txBody>
      </p:sp>
      <p:sp>
        <p:nvSpPr>
          <p:cNvPr id="35" name="Text 33"/>
          <p:cNvSpPr/>
          <p:nvPr/>
        </p:nvSpPr>
        <p:spPr>
          <a:xfrm>
            <a:off x="1657350" y="7498602"/>
            <a:ext cx="15422499" cy="6209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75" b="1" spc="-5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'어디 가지?'를 고민하던 영업이, </a:t>
            </a:r>
            <a:pPr algn="l" indent="0" marL="0">
              <a:lnSpc>
                <a:spcPct val="120000"/>
              </a:lnSpc>
              <a:buNone/>
            </a:pPr>
            <a:r>
              <a:rPr lang="en-US" sz="3825" b="1" spc="-55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움직이고 결과로 쌓이는 영업</a:t>
            </a:r>
            <a:pPr algn="l" indent="0" marL="0">
              <a:lnSpc>
                <a:spcPct val="120000"/>
              </a:lnSpc>
              <a:buNone/>
            </a:pPr>
            <a:r>
              <a:rPr lang="en-US" sz="2775" b="1" spc="-55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으로.</a:t>
            </a:r>
            <a:endParaRPr lang="en-US" sz="2775" dirty="0"/>
          </a:p>
        </p:txBody>
      </p:sp>
      <p:sp>
        <p:nvSpPr>
          <p:cNvPr id="36" name="Text 34"/>
          <p:cNvSpPr/>
          <p:nvPr/>
        </p:nvSpPr>
        <p:spPr>
          <a:xfrm>
            <a:off x="1657350" y="8186262"/>
            <a:ext cx="1647063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결과 → 대시보드 자산화 → 타깃 기준 개선의 선순환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90600"/>
            <a:ext cx="123825" cy="123825"/>
          </a:xfrm>
          <a:prstGeom prst="ellipse">
            <a:avLst/>
          </a:prstGeom>
          <a:solidFill>
            <a:srgbClr val="11B886"/>
          </a:solidFill>
          <a:ln/>
        </p:spPr>
      </p:sp>
      <p:sp>
        <p:nvSpPr>
          <p:cNvPr id="3" name="Text 1"/>
          <p:cNvSpPr/>
          <p:nvPr/>
        </p:nvSpPr>
        <p:spPr>
          <a:xfrm>
            <a:off x="1381125" y="919162"/>
            <a:ext cx="241808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11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보완할 점 · 고도화 로드맵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38275"/>
            <a:ext cx="1571625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멈추지 않고, 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방향</a:t>
            </a:r>
            <a:pPr algn="l" indent="0" marL="0">
              <a:lnSpc>
                <a:spcPct val="110000"/>
              </a:lnSpc>
              <a:buNone/>
            </a:pPr>
            <a:r>
              <a:rPr lang="en-US" sz="4950" b="1" spc="-148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키웁니다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2549166"/>
            <a:ext cx="7877175" cy="3044130"/>
          </a:xfrm>
          <a:prstGeom prst="roundRect">
            <a:avLst>
              <a:gd name="adj" fmla="val 75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5583772"/>
            <a:ext cx="787717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549166"/>
            <a:ext cx="7877175" cy="38100"/>
          </a:xfrm>
          <a:prstGeom prst="rect">
            <a:avLst/>
          </a:prstGeom>
          <a:solidFill>
            <a:srgbClr val="3556FF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549166"/>
            <a:ext cx="9525" cy="304413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9" name="Shape 7"/>
          <p:cNvSpPr/>
          <p:nvPr/>
        </p:nvSpPr>
        <p:spPr>
          <a:xfrm>
            <a:off x="9010650" y="2549166"/>
            <a:ext cx="9525" cy="304413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10" name="Shape 8"/>
          <p:cNvSpPr/>
          <p:nvPr/>
        </p:nvSpPr>
        <p:spPr>
          <a:xfrm>
            <a:off x="1495425" y="2892066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CE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4963" y="3001604"/>
            <a:ext cx="257175" cy="2571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05025" y="2973029"/>
            <a:ext cx="2646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-20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가망 발굴 시스템 고도화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1495425" y="3587391"/>
            <a:ext cx="257175" cy="257175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457325" y="3587391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885950" y="3577866"/>
            <a:ext cx="5207154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계약·건축물대장 데이터로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스코어링 지속 학습·고도화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495425" y="4053149"/>
            <a:ext cx="257175" cy="257175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457325" y="4053149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1885950" y="4043624"/>
            <a:ext cx="557976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고객 데이터 활용 가망 발굴 확대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(INDEX → CRM 연동)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495425" y="4518907"/>
            <a:ext cx="257175" cy="257175"/>
          </a:xfrm>
          <a:prstGeom prst="ellipse">
            <a:avLst/>
          </a:prstGeom>
          <a:solidFill>
            <a:srgbClr val="ECE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457325" y="4518907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355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1885950" y="4509382"/>
            <a:ext cx="4390891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확도 낮은 물건은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대리점 채널로 연계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 추가 수주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9267825" y="2549166"/>
            <a:ext cx="7877175" cy="3044130"/>
          </a:xfrm>
          <a:prstGeom prst="roundRect">
            <a:avLst>
              <a:gd name="adj" fmla="val 75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67825" y="5583772"/>
            <a:ext cx="787717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9267825" y="2549166"/>
            <a:ext cx="7877175" cy="38100"/>
          </a:xfrm>
          <a:prstGeom prst="rect">
            <a:avLst/>
          </a:prstGeom>
          <a:solidFill>
            <a:srgbClr val="6D5DE7"/>
          </a:solidFill>
          <a:ln/>
        </p:spPr>
      </p:sp>
      <p:sp>
        <p:nvSpPr>
          <p:cNvPr id="25" name="Shape 22"/>
          <p:cNvSpPr/>
          <p:nvPr/>
        </p:nvSpPr>
        <p:spPr>
          <a:xfrm>
            <a:off x="9267825" y="2549166"/>
            <a:ext cx="9525" cy="304413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17135475" y="2549166"/>
            <a:ext cx="9525" cy="304413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9620250" y="2892066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F1EFFF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9788" y="3001604"/>
            <a:ext cx="257175" cy="25717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229850" y="2973029"/>
            <a:ext cx="23284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-20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유지고객 리텐션 보강</a:t>
            </a:r>
            <a:endParaRPr lang="en-US" sz="2025" dirty="0"/>
          </a:p>
        </p:txBody>
      </p:sp>
      <p:sp>
        <p:nvSpPr>
          <p:cNvPr id="30" name="Shape 26"/>
          <p:cNvSpPr/>
          <p:nvPr/>
        </p:nvSpPr>
        <p:spPr>
          <a:xfrm>
            <a:off x="9620250" y="3587391"/>
            <a:ext cx="257175" cy="257175"/>
          </a:xfrm>
          <a:prstGeom prst="ellipse">
            <a:avLst/>
          </a:prstGeom>
          <a:solidFill>
            <a:srgbClr val="F1EFFF"/>
          </a:solidFill>
          <a:ln/>
        </p:spPr>
      </p:sp>
      <p:sp>
        <p:nvSpPr>
          <p:cNvPr id="31" name="Text 27"/>
          <p:cNvSpPr/>
          <p:nvPr/>
        </p:nvSpPr>
        <p:spPr>
          <a:xfrm>
            <a:off x="9582150" y="3587391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6D5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10010775" y="3577866"/>
            <a:ext cx="447864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유지고객 현황 지도 업데이트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(주변 영업에도 활용)</a:t>
            </a:r>
            <a:endParaRPr lang="en-US" sz="1650" dirty="0"/>
          </a:p>
        </p:txBody>
      </p:sp>
      <p:sp>
        <p:nvSpPr>
          <p:cNvPr id="33" name="Shape 29"/>
          <p:cNvSpPr/>
          <p:nvPr/>
        </p:nvSpPr>
        <p:spPr>
          <a:xfrm>
            <a:off x="9620250" y="4053149"/>
            <a:ext cx="257175" cy="257175"/>
          </a:xfrm>
          <a:prstGeom prst="ellipse">
            <a:avLst/>
          </a:prstGeom>
          <a:solidFill>
            <a:srgbClr val="F1EFFF"/>
          </a:solidFill>
          <a:ln/>
        </p:spPr>
      </p:sp>
      <p:sp>
        <p:nvSpPr>
          <p:cNvPr id="34" name="Text 30"/>
          <p:cNvSpPr/>
          <p:nvPr/>
        </p:nvSpPr>
        <p:spPr>
          <a:xfrm>
            <a:off x="9582150" y="4053149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6D5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35" name="Text 31"/>
          <p:cNvSpPr/>
          <p:nvPr/>
        </p:nvSpPr>
        <p:spPr>
          <a:xfrm>
            <a:off x="10010775" y="4043624"/>
            <a:ext cx="4174629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유지고객·신호 데이터 연동 →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영업관리에 활용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1143000" y="5840947"/>
            <a:ext cx="7877175" cy="3044130"/>
          </a:xfrm>
          <a:prstGeom prst="roundRect">
            <a:avLst>
              <a:gd name="adj" fmla="val 75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1143000" y="8875552"/>
            <a:ext cx="787717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38" name="Shape 34"/>
          <p:cNvSpPr/>
          <p:nvPr/>
        </p:nvSpPr>
        <p:spPr>
          <a:xfrm>
            <a:off x="1143000" y="5840947"/>
            <a:ext cx="7877175" cy="38100"/>
          </a:xfrm>
          <a:prstGeom prst="rect">
            <a:avLst/>
          </a:prstGeom>
          <a:solidFill>
            <a:srgbClr val="0E9EA4"/>
          </a:solidFill>
          <a:ln/>
        </p:spPr>
      </p:sp>
      <p:sp>
        <p:nvSpPr>
          <p:cNvPr id="39" name="Shape 35"/>
          <p:cNvSpPr/>
          <p:nvPr/>
        </p:nvSpPr>
        <p:spPr>
          <a:xfrm>
            <a:off x="1143000" y="5840947"/>
            <a:ext cx="9525" cy="304413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0" name="Shape 36"/>
          <p:cNvSpPr/>
          <p:nvPr/>
        </p:nvSpPr>
        <p:spPr>
          <a:xfrm>
            <a:off x="9010650" y="5840947"/>
            <a:ext cx="9525" cy="304413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41" name="Shape 37"/>
          <p:cNvSpPr/>
          <p:nvPr/>
        </p:nvSpPr>
        <p:spPr>
          <a:xfrm>
            <a:off x="1495425" y="6183847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E2F6F6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4963" y="6293384"/>
            <a:ext cx="257175" cy="257175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2105025" y="6264809"/>
            <a:ext cx="18446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-20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컨텐츠 확보</a:t>
            </a:r>
            <a:endParaRPr lang="en-US" sz="2025" dirty="0"/>
          </a:p>
        </p:txBody>
      </p:sp>
      <p:sp>
        <p:nvSpPr>
          <p:cNvPr id="44" name="Shape 39"/>
          <p:cNvSpPr/>
          <p:nvPr/>
        </p:nvSpPr>
        <p:spPr>
          <a:xfrm>
            <a:off x="1495425" y="6879172"/>
            <a:ext cx="257175" cy="257175"/>
          </a:xfrm>
          <a:prstGeom prst="ellipse">
            <a:avLst/>
          </a:prstGeom>
          <a:solidFill>
            <a:srgbClr val="E2F6F6"/>
          </a:solidFill>
          <a:ln/>
        </p:spPr>
      </p:sp>
      <p:sp>
        <p:nvSpPr>
          <p:cNvPr id="45" name="Text 40"/>
          <p:cNvSpPr/>
          <p:nvPr/>
        </p:nvSpPr>
        <p:spPr>
          <a:xfrm>
            <a:off x="1457325" y="6879172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0E9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46" name="Text 41"/>
          <p:cNvSpPr/>
          <p:nvPr/>
        </p:nvSpPr>
        <p:spPr>
          <a:xfrm>
            <a:off x="1885950" y="6869647"/>
            <a:ext cx="374808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사고·신호 데이터 기반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인사이트 발굴</a:t>
            </a:r>
            <a:endParaRPr lang="en-US" sz="1650" dirty="0"/>
          </a:p>
        </p:txBody>
      </p:sp>
      <p:sp>
        <p:nvSpPr>
          <p:cNvPr id="47" name="Shape 42"/>
          <p:cNvSpPr/>
          <p:nvPr/>
        </p:nvSpPr>
        <p:spPr>
          <a:xfrm>
            <a:off x="1495425" y="7344930"/>
            <a:ext cx="257175" cy="257175"/>
          </a:xfrm>
          <a:prstGeom prst="ellipse">
            <a:avLst/>
          </a:prstGeom>
          <a:solidFill>
            <a:srgbClr val="E2F6F6"/>
          </a:solidFill>
          <a:ln/>
        </p:spPr>
      </p:sp>
      <p:sp>
        <p:nvSpPr>
          <p:cNvPr id="48" name="Text 43"/>
          <p:cNvSpPr/>
          <p:nvPr/>
        </p:nvSpPr>
        <p:spPr>
          <a:xfrm>
            <a:off x="1457325" y="7344930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0E9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49" name="Text 44"/>
          <p:cNvSpPr/>
          <p:nvPr/>
        </p:nvSpPr>
        <p:spPr>
          <a:xfrm>
            <a:off x="1885950" y="7335405"/>
            <a:ext cx="3092581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시즈널·법 개정 이슈로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컨텐츠 확보</a:t>
            </a:r>
            <a:endParaRPr lang="en-US" sz="1650" dirty="0"/>
          </a:p>
        </p:txBody>
      </p:sp>
      <p:sp>
        <p:nvSpPr>
          <p:cNvPr id="50" name="Shape 45"/>
          <p:cNvSpPr/>
          <p:nvPr/>
        </p:nvSpPr>
        <p:spPr>
          <a:xfrm>
            <a:off x="1495425" y="7810687"/>
            <a:ext cx="257175" cy="257175"/>
          </a:xfrm>
          <a:prstGeom prst="ellipse">
            <a:avLst/>
          </a:prstGeom>
          <a:solidFill>
            <a:srgbClr val="E2F6F6"/>
          </a:solidFill>
          <a:ln/>
        </p:spPr>
      </p:sp>
      <p:sp>
        <p:nvSpPr>
          <p:cNvPr id="51" name="Text 46"/>
          <p:cNvSpPr/>
          <p:nvPr/>
        </p:nvSpPr>
        <p:spPr>
          <a:xfrm>
            <a:off x="1457325" y="7810687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0E9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5" dirty="0"/>
          </a:p>
        </p:txBody>
      </p:sp>
      <p:sp>
        <p:nvSpPr>
          <p:cNvPr id="52" name="Text 47"/>
          <p:cNvSpPr/>
          <p:nvPr/>
        </p:nvSpPr>
        <p:spPr>
          <a:xfrm>
            <a:off x="1885950" y="7801162"/>
            <a:ext cx="5271574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기록 기반 제안서·견적서 자동 작성 (컨설팅 키트 연계)</a:t>
            </a:r>
            <a:endParaRPr lang="en-US" sz="1650" dirty="0"/>
          </a:p>
        </p:txBody>
      </p:sp>
      <p:sp>
        <p:nvSpPr>
          <p:cNvPr id="53" name="Shape 48"/>
          <p:cNvSpPr/>
          <p:nvPr/>
        </p:nvSpPr>
        <p:spPr>
          <a:xfrm>
            <a:off x="1495425" y="8276445"/>
            <a:ext cx="257175" cy="257175"/>
          </a:xfrm>
          <a:prstGeom prst="ellipse">
            <a:avLst/>
          </a:prstGeom>
          <a:solidFill>
            <a:srgbClr val="E2F6F6"/>
          </a:solidFill>
          <a:ln/>
        </p:spPr>
      </p:sp>
      <p:sp>
        <p:nvSpPr>
          <p:cNvPr id="54" name="Text 49"/>
          <p:cNvSpPr/>
          <p:nvPr/>
        </p:nvSpPr>
        <p:spPr>
          <a:xfrm>
            <a:off x="1457325" y="8276445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0E9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25" dirty="0"/>
          </a:p>
        </p:txBody>
      </p:sp>
      <p:sp>
        <p:nvSpPr>
          <p:cNvPr id="55" name="Text 50"/>
          <p:cNvSpPr/>
          <p:nvPr/>
        </p:nvSpPr>
        <p:spPr>
          <a:xfrm>
            <a:off x="1885950" y="8266920"/>
            <a:ext cx="4991465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블루스캔 지침·사례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학습 → 영업 가이드 에이전트</a:t>
            </a:r>
            <a:endParaRPr lang="en-US" sz="1650" dirty="0"/>
          </a:p>
        </p:txBody>
      </p:sp>
      <p:sp>
        <p:nvSpPr>
          <p:cNvPr id="56" name="Shape 51"/>
          <p:cNvSpPr/>
          <p:nvPr/>
        </p:nvSpPr>
        <p:spPr>
          <a:xfrm>
            <a:off x="9267825" y="5840947"/>
            <a:ext cx="7877175" cy="3044130"/>
          </a:xfrm>
          <a:prstGeom prst="roundRect">
            <a:avLst>
              <a:gd name="adj" fmla="val 75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31A33">
                <a:alpha val="6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9267825" y="8875552"/>
            <a:ext cx="7877175" cy="9525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58" name="Shape 53"/>
          <p:cNvSpPr/>
          <p:nvPr/>
        </p:nvSpPr>
        <p:spPr>
          <a:xfrm>
            <a:off x="9267825" y="5840947"/>
            <a:ext cx="7877175" cy="38100"/>
          </a:xfrm>
          <a:prstGeom prst="rect">
            <a:avLst/>
          </a:prstGeom>
          <a:solidFill>
            <a:srgbClr val="FB7A1E"/>
          </a:solidFill>
          <a:ln/>
        </p:spPr>
      </p:sp>
      <p:sp>
        <p:nvSpPr>
          <p:cNvPr id="59" name="Shape 54"/>
          <p:cNvSpPr/>
          <p:nvPr/>
        </p:nvSpPr>
        <p:spPr>
          <a:xfrm>
            <a:off x="9267825" y="5840947"/>
            <a:ext cx="9525" cy="304413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0" name="Shape 55"/>
          <p:cNvSpPr/>
          <p:nvPr/>
        </p:nvSpPr>
        <p:spPr>
          <a:xfrm>
            <a:off x="17135475" y="5840947"/>
            <a:ext cx="9525" cy="3044130"/>
          </a:xfrm>
          <a:prstGeom prst="rect">
            <a:avLst/>
          </a:prstGeom>
          <a:solidFill>
            <a:srgbClr val="E6EAF3"/>
          </a:solidFill>
          <a:ln/>
        </p:spPr>
      </p:sp>
      <p:sp>
        <p:nvSpPr>
          <p:cNvPr id="61" name="Shape 56"/>
          <p:cNvSpPr/>
          <p:nvPr/>
        </p:nvSpPr>
        <p:spPr>
          <a:xfrm>
            <a:off x="9620250" y="6183847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FFF1E3"/>
          </a:solidFill>
          <a:ln/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29788" y="6293384"/>
            <a:ext cx="257175" cy="257175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10229850" y="6264809"/>
            <a:ext cx="16028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-20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편의 향상</a:t>
            </a:r>
            <a:endParaRPr lang="en-US" sz="2025" dirty="0"/>
          </a:p>
        </p:txBody>
      </p:sp>
      <p:sp>
        <p:nvSpPr>
          <p:cNvPr id="64" name="Shape 58"/>
          <p:cNvSpPr/>
          <p:nvPr/>
        </p:nvSpPr>
        <p:spPr>
          <a:xfrm>
            <a:off x="9620250" y="6879172"/>
            <a:ext cx="257175" cy="257175"/>
          </a:xfrm>
          <a:prstGeom prst="ellipse">
            <a:avLst/>
          </a:prstGeom>
          <a:solidFill>
            <a:srgbClr val="FFF1E3"/>
          </a:solidFill>
          <a:ln/>
        </p:spPr>
      </p:sp>
      <p:sp>
        <p:nvSpPr>
          <p:cNvPr id="65" name="Text 59"/>
          <p:cNvSpPr/>
          <p:nvPr/>
        </p:nvSpPr>
        <p:spPr>
          <a:xfrm>
            <a:off x="9582150" y="6879172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E26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66" name="Text 60"/>
          <p:cNvSpPr/>
          <p:nvPr/>
        </p:nvSpPr>
        <p:spPr>
          <a:xfrm>
            <a:off x="10010775" y="6869647"/>
            <a:ext cx="481392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관리 리스트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엑셀·메일 발송 자동화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(취합 간소화)</a:t>
            </a:r>
            <a:endParaRPr lang="en-US" sz="1650" dirty="0"/>
          </a:p>
        </p:txBody>
      </p:sp>
      <p:sp>
        <p:nvSpPr>
          <p:cNvPr id="67" name="Shape 61"/>
          <p:cNvSpPr/>
          <p:nvPr/>
        </p:nvSpPr>
        <p:spPr>
          <a:xfrm>
            <a:off x="9620250" y="7344930"/>
            <a:ext cx="257175" cy="257175"/>
          </a:xfrm>
          <a:prstGeom prst="ellipse">
            <a:avLst/>
          </a:prstGeom>
          <a:solidFill>
            <a:srgbClr val="FFF1E3"/>
          </a:solidFill>
          <a:ln/>
        </p:spPr>
      </p:sp>
      <p:sp>
        <p:nvSpPr>
          <p:cNvPr id="68" name="Text 62"/>
          <p:cNvSpPr/>
          <p:nvPr/>
        </p:nvSpPr>
        <p:spPr>
          <a:xfrm>
            <a:off x="9582150" y="7344930"/>
            <a:ext cx="33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25" b="1" spc="-12" kern="0" dirty="0">
                <a:solidFill>
                  <a:srgbClr val="E26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69" name="Text 63"/>
          <p:cNvSpPr/>
          <p:nvPr/>
        </p:nvSpPr>
        <p:spPr>
          <a:xfrm>
            <a:off x="10010775" y="7335405"/>
            <a:ext cx="4423797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38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가망·견적 생성 데이터 연동 →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spc="-12" kern="0" dirty="0">
                <a:solidFill>
                  <a:srgbClr val="13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정합성 관리</a:t>
            </a:r>
            <a:endParaRPr lang="en-US" sz="1650" dirty="0"/>
          </a:p>
        </p:txBody>
      </p:sp>
      <p:sp>
        <p:nvSpPr>
          <p:cNvPr id="70" name="Text 64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71" name="Text 65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B2563">
                  <a:alpha val="100000"/>
                </a:srgbClr>
              </a:gs>
              <a:gs pos="60000">
                <a:srgbClr val="0E1330">
                  <a:alpha val="100000"/>
                </a:srgbClr>
              </a:gs>
              <a:gs pos="100000">
                <a:srgbClr val="0A0E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812753"/>
            <a:ext cx="15716250" cy="7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4650" b="1" spc="-1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'어디 가지?'에서 </a:t>
            </a:r>
            <a:pPr algn="l" indent="0" marL="0">
              <a:lnSpc>
                <a:spcPct val="116000"/>
              </a:lnSpc>
              <a:buNone/>
            </a:pPr>
            <a:r>
              <a:rPr lang="en-US" sz="4650" b="1" spc="-139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'어떻게 설득하지?'</a:t>
            </a:r>
            <a:pPr algn="l" indent="0" marL="0">
              <a:lnSpc>
                <a:spcPct val="116000"/>
              </a:lnSpc>
              <a:buNone/>
            </a:pPr>
            <a:r>
              <a:rPr lang="en-US" sz="4650" b="1" spc="-1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143000" y="4802871"/>
            <a:ext cx="127539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B6B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'어디 가지?'를 고민하던 영업이, 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CD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움직이고 결과로 쌓이는 영업 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B6B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으로. BlueScan Lead Transformation AI, 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CD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'블타' 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B6B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CD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'블'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B6B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루스캔 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CD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'타'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12" kern="0" dirty="0">
                <a:solidFill>
                  <a:srgbClr val="B6B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율, 수주'타'율 개선을 지원합니다.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6299657"/>
            <a:ext cx="30104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8A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35" y="9515475"/>
            <a:ext cx="345920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6B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BlueScan Lead Transformation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893704" y="9510713"/>
            <a:ext cx="3274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2" kern="0" dirty="0">
                <a:solidFill>
                  <a:srgbClr val="97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2026-07-10T03:46:27Z</dcterms:created>
  <dcterms:modified xsi:type="dcterms:W3CDTF">2026-07-10T03:46:27Z</dcterms:modified>
</cp:coreProperties>
</file>